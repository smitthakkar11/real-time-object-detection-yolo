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project is a real-time object detection system. The laptop webcam is read with OpenCV, every frame goes through a pretrained YOLO11n model, and the result is shown in a simple Streamlit page. The picture on the right is a real frame from our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four team members and their roll numbers. The project was done for the Image Processing and Computer Vision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to identify and locate common objects in a live video stream and show the result immediately. The difficulties are speed, varied scenes, ordinary hardware without a GPU, and a result that anyone can understand.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six objectives: capture frames, detect with a pretrained YOLO model, draw the results, show them in Streamlit, measure real FPS and counts, and handle errors while reporting results honestly.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 detection gives a box, a class label and a confidence score for every object. This is different from classification, which gives one label for the whole image, and from segmentation, which labels every pixel. The image is our app's real output on a sample image: one bus and four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YOLO is a single-stage detector: one network, one pass. In the original paper the image is split into a grid, and the cell containing an object's centre predicts it. NMS removes duplicate boxes. We use the pretrained YOLO11n nano model from Ultralytics. It has 2.6 million parameters and was trained by Ultralytics on the COCO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complete pipeline. The webcam is controlled from the Streamlit UI. OpenCV captures a frame, YOLO detects objects, we draw the boxes, labels and scores, and Streamlit displays the frame. Then the loop repeats for the next frame.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every frame we do five steps: capture, detect, draw, measure FPS and counts, and display. FPS is calculated from the real time of one loop. Before the loop the model is loaded once. When the user switches detection off, the camera is released.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four main tools: Python, OpenCV, Ultralytics YOLO and Streamlit. PyTorch runs the network in the background. We kept the stack minimal: no backend, no database and no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screenshot is from our live test: the person is detected with 0.88 confidence at 23.4 FPS. The code is split into three files: app.py for the UI and loop, detector.py for YOLO, and utils.py for drawing, FPS and counting.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measurements from our laptop. The app ran at 22 to 24 FPS, the model needs about 31 ms per frame, and the person in front of the camera was detected with 0.77 to 0.94 confidence. The images show the effect of the threshold: lower values show more, but weaker, detections.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tested the main cases. Live tests used the webcam. Multiple objects and people were tested with sample images, and lighting and distance with OpenCV simulations, and we mark them clearly. All tests passed. The simulations show where the model reaches its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limitations are hardware-dependent speed, sensitivity to lighting and object size, the fixed set of 80 classes, and no tracking. Future work could use bigger models, custom training, tracking, or deployment on small devices.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we built a working real-time object detector with a pretrained YOLO11n model, OpenCV and Streamlit. It runs at about 22 to 24 FPS on a normal laptop. Our work was integrating and testing the model, not training it. 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0"/>
        </a:solidFill>
      </p:bgPr>
    </p:bg>
    <p:spTree>
      <p:nvGrpSpPr>
        <p:cNvPr id="1" name=""/>
        <p:cNvGrpSpPr/>
        <p:nvPr/>
      </p:nvGrpSpPr>
      <p:grpSpPr>
        <a:xfrm>
          <a:off x="0" y="0"/>
          <a:ext cx="0" cy="0"/>
          <a:chOff x="0" y="0"/>
          <a:chExt cx="0" cy="0"/>
        </a:xfrm>
      </p:grpSpPr>
      <p:sp>
        <p:nvSpPr>
          <p:cNvPr id="2" name="Shape 0"/>
          <p:cNvSpPr/>
          <p:nvPr/>
        </p:nvSpPr>
        <p:spPr>
          <a:xfrm>
            <a:off x="640080" y="1600200"/>
            <a:ext cx="4443984" cy="310896"/>
          </a:xfrm>
          <a:prstGeom prst="rect">
            <a:avLst/>
          </a:prstGeom>
          <a:solidFill>
            <a:srgbClr val="16A34A"/>
          </a:solidFill>
          <a:ln w="12700">
            <a:solidFill>
              <a:srgbClr val="16A34A"/>
            </a:solidFill>
            <a:prstDash val="solid"/>
          </a:ln>
        </p:spPr>
      </p:sp>
      <p:sp>
        <p:nvSpPr>
          <p:cNvPr id="3" name="Text 1"/>
          <p:cNvSpPr txBox="1"/>
          <p:nvPr/>
        </p:nvSpPr>
        <p:spPr>
          <a:xfrm>
            <a:off x="640080" y="1600200"/>
            <a:ext cx="4443984" cy="310896"/>
          </a:xfrm>
          <a:prstGeom prst="rect">
            <a:avLst/>
          </a:prstGeom>
          <a:noFill/>
          <a:ln/>
        </p:spPr>
        <p:txBody>
          <a:bodyPr wrap="none" lIns="0" tIns="0" rIns="0" bIns="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IMAGE PROCESSING AND COMPUTER VISION</a:t>
            </a:r>
            <a:endParaRPr lang="en-US" sz="1100" dirty="0"/>
          </a:p>
        </p:txBody>
      </p:sp>
      <p:sp>
        <p:nvSpPr>
          <p:cNvPr id="4" name="Text 2"/>
          <p:cNvSpPr txBox="1"/>
          <p:nvPr/>
        </p:nvSpPr>
        <p:spPr>
          <a:xfrm>
            <a:off x="640080" y="2103120"/>
            <a:ext cx="5852160" cy="1463040"/>
          </a:xfrm>
          <a:prstGeom prst="rect">
            <a:avLst/>
          </a:prstGeom>
          <a:noFill/>
          <a:ln/>
        </p:spPr>
        <p:txBody>
          <a:bodyPr wrap="square" lIns="0" tIns="0" rIns="0" bIns="0" rtlCol="0" anchor="t"/>
          <a:lstStyle/>
          <a:p>
            <a:pPr indent="0" marL="0">
              <a:buNone/>
            </a:pPr>
            <a:r>
              <a:rPr lang="en-US" sz="4200" b="1" dirty="0">
                <a:solidFill>
                  <a:srgbClr val="FFFFFF"/>
                </a:solidFill>
                <a:latin typeface="Arial" pitchFamily="34" charset="0"/>
                <a:ea typeface="Arial" pitchFamily="34" charset="-122"/>
                <a:cs typeface="Arial" pitchFamily="34" charset="-120"/>
              </a:rPr>
              <a:t>Real-Time Object Detection using YOLO</a:t>
            </a:r>
            <a:endParaRPr lang="en-US" sz="4200" dirty="0"/>
          </a:p>
        </p:txBody>
      </p:sp>
      <p:sp>
        <p:nvSpPr>
          <p:cNvPr id="5" name="Text 3"/>
          <p:cNvSpPr txBox="1"/>
          <p:nvPr/>
        </p:nvSpPr>
        <p:spPr>
          <a:xfrm>
            <a:off x="640080" y="3703320"/>
            <a:ext cx="5852160" cy="457200"/>
          </a:xfrm>
          <a:prstGeom prst="rect">
            <a:avLst/>
          </a:prstGeom>
          <a:noFill/>
          <a:ln/>
        </p:spPr>
        <p:txBody>
          <a:bodyPr wrap="square" lIns="0" tIns="0" rIns="0" bIns="0" rtlCol="0" anchor="ctr"/>
          <a:lstStyle/>
          <a:p>
            <a:pPr indent="0" marL="0">
              <a:buNone/>
            </a:pPr>
            <a:r>
              <a:rPr lang="en-US" sz="1800" dirty="0">
                <a:solidFill>
                  <a:srgbClr val="B8C4CF"/>
                </a:solidFill>
                <a:latin typeface="Calibri" pitchFamily="34" charset="0"/>
                <a:ea typeface="Calibri" pitchFamily="34" charset="-122"/>
                <a:cs typeface="Calibri" pitchFamily="34" charset="-120"/>
              </a:rPr>
              <a:t>Webcam  →  OpenCV  →  pretrained YOLO11n  →  Streamlit</a:t>
            </a:r>
            <a:endParaRPr lang="en-US" sz="1800" dirty="0"/>
          </a:p>
        </p:txBody>
      </p:sp>
      <p:sp>
        <p:nvSpPr>
          <p:cNvPr id="6" name="Text 4"/>
          <p:cNvSpPr txBox="1"/>
          <p:nvPr/>
        </p:nvSpPr>
        <p:spPr>
          <a:xfrm>
            <a:off x="640080" y="4434840"/>
            <a:ext cx="5852160" cy="731520"/>
          </a:xfrm>
          <a:prstGeom prst="rect">
            <a:avLst/>
          </a:prstGeom>
          <a:noFill/>
          <a:ln/>
        </p:spPr>
        <p:txBody>
          <a:bodyPr wrap="square" lIns="0" tIns="0" rIns="0" bIns="0" rtlCol="0" anchor="ctr"/>
          <a:lstStyle/>
          <a:p>
            <a:pPr indent="0" marL="0">
              <a:buNone/>
            </a:pPr>
            <a:r>
              <a:rPr lang="en-US" sz="1600" dirty="0">
                <a:solidFill>
                  <a:srgbClr val="D9E2EA"/>
                </a:solidFill>
                <a:latin typeface="Calibri" pitchFamily="34" charset="0"/>
                <a:ea typeface="Calibri" pitchFamily="34" charset="-122"/>
                <a:cs typeface="Calibri" pitchFamily="34" charset="-120"/>
              </a:rPr>
              <a:t>Yogesh Dixit  ·  Sumitabh Ahirwar</a:t>
            </a:r>
            <a:endParaRPr lang="en-US" sz="1600" dirty="0"/>
          </a:p>
          <a:p>
            <a:pPr indent="0" marL="0">
              <a:buNone/>
            </a:pPr>
            <a:r>
              <a:rPr lang="en-US" sz="1600" dirty="0">
                <a:solidFill>
                  <a:srgbClr val="D9E2EA"/>
                </a:solidFill>
                <a:latin typeface="Calibri" pitchFamily="34" charset="0"/>
                <a:ea typeface="Calibri" pitchFamily="34" charset="-122"/>
                <a:cs typeface="Calibri" pitchFamily="34" charset="-120"/>
              </a:rPr>
              <a:t>Smit Thakkar  ·  Vishal Prabhu</a:t>
            </a:r>
            <a:endParaRPr lang="en-US" sz="1600" dirty="0"/>
          </a:p>
        </p:txBody>
      </p:sp>
      <p:pic>
        <p:nvPicPr>
          <p:cNvPr id="7" name="Image 0" descr="/Users/SmitT/Desktop/objectdetectionusingyolo/Real-Time-Object-Detection-YOLO/outputs/sample_results/webcam_person_far.png">    </p:cNvPr>
          <p:cNvPicPr>
            <a:picLocks noChangeAspect="1"/>
          </p:cNvPicPr>
          <p:nvPr/>
        </p:nvPicPr>
        <p:blipFill>
          <a:blip r:embed="rId1"/>
          <a:stretch>
            <a:fillRect/>
          </a:stretch>
        </p:blipFill>
        <p:spPr>
          <a:xfrm>
            <a:off x="6705295" y="1641656"/>
            <a:ext cx="4754880" cy="3574687"/>
          </a:xfrm>
          <a:prstGeom prst="rect">
            <a:avLst/>
          </a:prstGeom>
        </p:spPr>
      </p:pic>
      <p:sp>
        <p:nvSpPr>
          <p:cNvPr id="8" name="Shape 5"/>
          <p:cNvSpPr/>
          <p:nvPr/>
        </p:nvSpPr>
        <p:spPr>
          <a:xfrm>
            <a:off x="6595567" y="1531928"/>
            <a:ext cx="292608" cy="0"/>
          </a:xfrm>
          <a:prstGeom prst="line">
            <a:avLst/>
          </a:prstGeom>
          <a:noFill/>
          <a:ln w="38100">
            <a:solidFill>
              <a:srgbClr val="16A34A"/>
            </a:solidFill>
            <a:prstDash val="solid"/>
          </a:ln>
        </p:spPr>
      </p:sp>
      <p:sp>
        <p:nvSpPr>
          <p:cNvPr id="9" name="Shape 6"/>
          <p:cNvSpPr/>
          <p:nvPr/>
        </p:nvSpPr>
        <p:spPr>
          <a:xfrm>
            <a:off x="6595567" y="1531928"/>
            <a:ext cx="0" cy="292608"/>
          </a:xfrm>
          <a:prstGeom prst="line">
            <a:avLst/>
          </a:prstGeom>
          <a:noFill/>
          <a:ln w="38100">
            <a:solidFill>
              <a:srgbClr val="16A34A"/>
            </a:solidFill>
            <a:prstDash val="solid"/>
          </a:ln>
        </p:spPr>
      </p:sp>
      <p:sp>
        <p:nvSpPr>
          <p:cNvPr id="10" name="Shape 7"/>
          <p:cNvSpPr/>
          <p:nvPr/>
        </p:nvSpPr>
        <p:spPr>
          <a:xfrm>
            <a:off x="11277295" y="1531928"/>
            <a:ext cx="292608" cy="0"/>
          </a:xfrm>
          <a:prstGeom prst="line">
            <a:avLst/>
          </a:prstGeom>
          <a:noFill/>
          <a:ln w="38100">
            <a:solidFill>
              <a:srgbClr val="16A34A"/>
            </a:solidFill>
            <a:prstDash val="solid"/>
          </a:ln>
        </p:spPr>
      </p:sp>
      <p:sp>
        <p:nvSpPr>
          <p:cNvPr id="11" name="Shape 8"/>
          <p:cNvSpPr/>
          <p:nvPr/>
        </p:nvSpPr>
        <p:spPr>
          <a:xfrm>
            <a:off x="11569903" y="1531928"/>
            <a:ext cx="0" cy="292608"/>
          </a:xfrm>
          <a:prstGeom prst="line">
            <a:avLst/>
          </a:prstGeom>
          <a:noFill/>
          <a:ln w="38100">
            <a:solidFill>
              <a:srgbClr val="16A34A"/>
            </a:solidFill>
            <a:prstDash val="solid"/>
          </a:ln>
        </p:spPr>
      </p:sp>
      <p:sp>
        <p:nvSpPr>
          <p:cNvPr id="12" name="Shape 9"/>
          <p:cNvSpPr/>
          <p:nvPr/>
        </p:nvSpPr>
        <p:spPr>
          <a:xfrm>
            <a:off x="6595567" y="5326072"/>
            <a:ext cx="292608" cy="0"/>
          </a:xfrm>
          <a:prstGeom prst="line">
            <a:avLst/>
          </a:prstGeom>
          <a:noFill/>
          <a:ln w="38100">
            <a:solidFill>
              <a:srgbClr val="16A34A"/>
            </a:solidFill>
            <a:prstDash val="solid"/>
          </a:ln>
        </p:spPr>
      </p:sp>
      <p:sp>
        <p:nvSpPr>
          <p:cNvPr id="13" name="Shape 10"/>
          <p:cNvSpPr/>
          <p:nvPr/>
        </p:nvSpPr>
        <p:spPr>
          <a:xfrm>
            <a:off x="6595567" y="5033464"/>
            <a:ext cx="0" cy="292608"/>
          </a:xfrm>
          <a:prstGeom prst="line">
            <a:avLst/>
          </a:prstGeom>
          <a:noFill/>
          <a:ln w="38100">
            <a:solidFill>
              <a:srgbClr val="16A34A"/>
            </a:solidFill>
            <a:prstDash val="solid"/>
          </a:ln>
        </p:spPr>
      </p:sp>
      <p:sp>
        <p:nvSpPr>
          <p:cNvPr id="14" name="Shape 11"/>
          <p:cNvSpPr/>
          <p:nvPr/>
        </p:nvSpPr>
        <p:spPr>
          <a:xfrm>
            <a:off x="11277295" y="5326072"/>
            <a:ext cx="292608" cy="0"/>
          </a:xfrm>
          <a:prstGeom prst="line">
            <a:avLst/>
          </a:prstGeom>
          <a:noFill/>
          <a:ln w="38100">
            <a:solidFill>
              <a:srgbClr val="16A34A"/>
            </a:solidFill>
            <a:prstDash val="solid"/>
          </a:ln>
        </p:spPr>
      </p:sp>
      <p:sp>
        <p:nvSpPr>
          <p:cNvPr id="15" name="Shape 12"/>
          <p:cNvSpPr/>
          <p:nvPr/>
        </p:nvSpPr>
        <p:spPr>
          <a:xfrm>
            <a:off x="11569903" y="5033464"/>
            <a:ext cx="0" cy="292608"/>
          </a:xfrm>
          <a:prstGeom prst="line">
            <a:avLst/>
          </a:prstGeom>
          <a:noFill/>
          <a:ln w="38100">
            <a:solidFill>
              <a:srgbClr val="16A34A"/>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786384" cy="310896"/>
          </a:xfrm>
          <a:prstGeom prst="rect">
            <a:avLst/>
          </a:prstGeom>
          <a:solidFill>
            <a:srgbClr val="16A34A"/>
          </a:solidFill>
          <a:ln w="12700">
            <a:solidFill>
              <a:srgbClr val="16A34A"/>
            </a:solidFill>
            <a:prstDash val="solid"/>
          </a:ln>
        </p:spPr>
      </p:sp>
      <p:sp>
        <p:nvSpPr>
          <p:cNvPr id="3" name="Text 1"/>
          <p:cNvSpPr txBox="1"/>
          <p:nvPr/>
        </p:nvSpPr>
        <p:spPr>
          <a:xfrm>
            <a:off x="548640" y="411480"/>
            <a:ext cx="786384" cy="310896"/>
          </a:xfrm>
          <a:prstGeom prst="rect">
            <a:avLst/>
          </a:prstGeom>
          <a:noFill/>
          <a:ln/>
        </p:spPr>
        <p:txBody>
          <a:bodyPr wrap="none" lIns="0" tIns="0" rIns="0" bIns="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TEAM</a:t>
            </a:r>
            <a:endParaRPr lang="en-US" sz="1100" dirty="0"/>
          </a:p>
        </p:txBody>
      </p:sp>
      <p:sp>
        <p:nvSpPr>
          <p:cNvPr id="4" name="Text 2"/>
          <p:cNvSpPr txBox="1"/>
          <p:nvPr/>
        </p:nvSpPr>
        <p:spPr>
          <a:xfrm>
            <a:off x="548640" y="777240"/>
            <a:ext cx="11094415" cy="777240"/>
          </a:xfrm>
          <a:prstGeom prst="rect">
            <a:avLst/>
          </a:prstGeom>
          <a:noFill/>
          <a:ln/>
        </p:spPr>
        <p:txBody>
          <a:bodyPr wrap="square" lIns="0" tIns="0" rIns="0" bIns="0" rtlCol="0" anchor="ctr"/>
          <a:lstStyle/>
          <a:p>
            <a:pPr indent="0" marL="0">
              <a:buNone/>
            </a:pPr>
            <a:r>
              <a:rPr lang="en-US" sz="3400" b="1" dirty="0">
                <a:solidFill>
                  <a:srgbClr val="1F2933"/>
                </a:solidFill>
                <a:latin typeface="Arial" pitchFamily="34" charset="0"/>
                <a:ea typeface="Arial" pitchFamily="34" charset="-122"/>
                <a:cs typeface="Arial" pitchFamily="34" charset="-120"/>
              </a:rPr>
              <a:t>Team Members</a:t>
            </a:r>
            <a:endParaRPr lang="en-US" sz="3400" dirty="0"/>
          </a:p>
        </p:txBody>
      </p:sp>
      <p:sp>
        <p:nvSpPr>
          <p:cNvPr id="5" name="Shape 3"/>
          <p:cNvSpPr/>
          <p:nvPr/>
        </p:nvSpPr>
        <p:spPr>
          <a:xfrm>
            <a:off x="600304" y="2057400"/>
            <a:ext cx="2542032" cy="2651760"/>
          </a:xfrm>
          <a:prstGeom prst="rect">
            <a:avLst/>
          </a:prstGeom>
          <a:solidFill>
            <a:srgbClr val="F4F6F8"/>
          </a:solidFill>
          <a:ln w="12700">
            <a:solidFill>
              <a:srgbClr val="F4F6F8"/>
            </a:solidFill>
            <a:prstDash val="solid"/>
          </a:ln>
        </p:spPr>
      </p:sp>
      <p:sp>
        <p:nvSpPr>
          <p:cNvPr id="6" name="Shape 4"/>
          <p:cNvSpPr/>
          <p:nvPr/>
        </p:nvSpPr>
        <p:spPr>
          <a:xfrm>
            <a:off x="1459840" y="2423160"/>
            <a:ext cx="822960" cy="822960"/>
          </a:xfrm>
          <a:prstGeom prst="ellipse">
            <a:avLst/>
          </a:prstGeom>
          <a:solidFill>
            <a:srgbClr val="EAF7EE"/>
          </a:solidFill>
          <a:ln w="12700">
            <a:solidFill>
              <a:srgbClr val="EAF7EE"/>
            </a:solidFill>
            <a:prstDash val="solid"/>
          </a:ln>
        </p:spPr>
      </p:sp>
      <p:pic>
        <p:nvPicPr>
          <p:cNvPr id="7" name="Image 0" descr="preencoded.png">    </p:cNvPr>
          <p:cNvPicPr>
            <a:picLocks noChangeAspect="1"/>
          </p:cNvPicPr>
          <p:nvPr/>
        </p:nvPicPr>
        <p:blipFill>
          <a:blip r:embed="rId1"/>
          <a:stretch>
            <a:fillRect/>
          </a:stretch>
        </p:blipFill>
        <p:spPr>
          <a:xfrm>
            <a:off x="1665580" y="2628900"/>
            <a:ext cx="411480" cy="411480"/>
          </a:xfrm>
          <a:prstGeom prst="rect">
            <a:avLst/>
          </a:prstGeom>
        </p:spPr>
      </p:pic>
      <p:sp>
        <p:nvSpPr>
          <p:cNvPr id="8" name="Text 5"/>
          <p:cNvSpPr txBox="1"/>
          <p:nvPr/>
        </p:nvSpPr>
        <p:spPr>
          <a:xfrm>
            <a:off x="737464" y="3429000"/>
            <a:ext cx="2267712" cy="502920"/>
          </a:xfrm>
          <a:prstGeom prst="rect">
            <a:avLst/>
          </a:prstGeom>
          <a:noFill/>
          <a:ln/>
        </p:spPr>
        <p:txBody>
          <a:bodyPr wrap="square" lIns="0" tIns="0" rIns="0" bIns="0" rtlCol="0" anchor="ctr"/>
          <a:lstStyle/>
          <a:p>
            <a:pPr algn="ctr" indent="0" marL="0">
              <a:buNone/>
            </a:pPr>
            <a:r>
              <a:rPr lang="en-US" sz="1800" b="1" dirty="0">
                <a:solidFill>
                  <a:srgbClr val="1F2933"/>
                </a:solidFill>
                <a:latin typeface="Arial" pitchFamily="34" charset="0"/>
                <a:ea typeface="Arial" pitchFamily="34" charset="-122"/>
                <a:cs typeface="Arial" pitchFamily="34" charset="-120"/>
              </a:rPr>
              <a:t>Yogesh Dixit</a:t>
            </a:r>
            <a:endParaRPr lang="en-US" sz="1800" dirty="0"/>
          </a:p>
        </p:txBody>
      </p:sp>
      <p:sp>
        <p:nvSpPr>
          <p:cNvPr id="9" name="Text 6"/>
          <p:cNvSpPr txBox="1"/>
          <p:nvPr/>
        </p:nvSpPr>
        <p:spPr>
          <a:xfrm>
            <a:off x="737464" y="3931920"/>
            <a:ext cx="2267712" cy="411480"/>
          </a:xfrm>
          <a:prstGeom prst="rect">
            <a:avLst/>
          </a:prstGeom>
          <a:noFill/>
          <a:ln/>
        </p:spPr>
        <p:txBody>
          <a:bodyPr wrap="square" lIns="0" tIns="0" rIns="0" bIns="0" rtlCol="0" anchor="ctr"/>
          <a:lstStyle/>
          <a:p>
            <a:pPr algn="ctr" indent="0" marL="0">
              <a:buNone/>
            </a:pPr>
            <a:r>
              <a:rPr lang="en-US" sz="1500" dirty="0">
                <a:solidFill>
                  <a:srgbClr val="5B6675"/>
                </a:solidFill>
                <a:latin typeface="Calibri" pitchFamily="34" charset="0"/>
                <a:ea typeface="Calibri" pitchFamily="34" charset="-122"/>
                <a:cs typeface="Calibri" pitchFamily="34" charset="-120"/>
              </a:rPr>
              <a:t>Roll No. 20233362</a:t>
            </a:r>
            <a:endParaRPr lang="en-US" sz="1500" dirty="0"/>
          </a:p>
        </p:txBody>
      </p:sp>
      <p:sp>
        <p:nvSpPr>
          <p:cNvPr id="10" name="Shape 7"/>
          <p:cNvSpPr/>
          <p:nvPr/>
        </p:nvSpPr>
        <p:spPr>
          <a:xfrm>
            <a:off x="3416656" y="2057400"/>
            <a:ext cx="2542032" cy="2651760"/>
          </a:xfrm>
          <a:prstGeom prst="rect">
            <a:avLst/>
          </a:prstGeom>
          <a:solidFill>
            <a:srgbClr val="F4F6F8"/>
          </a:solidFill>
          <a:ln w="12700">
            <a:solidFill>
              <a:srgbClr val="F4F6F8"/>
            </a:solidFill>
            <a:prstDash val="solid"/>
          </a:ln>
        </p:spPr>
      </p:sp>
      <p:sp>
        <p:nvSpPr>
          <p:cNvPr id="11" name="Shape 8"/>
          <p:cNvSpPr/>
          <p:nvPr/>
        </p:nvSpPr>
        <p:spPr>
          <a:xfrm>
            <a:off x="4276192" y="2423160"/>
            <a:ext cx="822960" cy="822960"/>
          </a:xfrm>
          <a:prstGeom prst="ellipse">
            <a:avLst/>
          </a:prstGeom>
          <a:solidFill>
            <a:srgbClr val="EAF7EE"/>
          </a:solidFill>
          <a:ln w="12700">
            <a:solidFill>
              <a:srgbClr val="EAF7EE"/>
            </a:solidFill>
            <a:prstDash val="solid"/>
          </a:ln>
        </p:spPr>
      </p:sp>
      <p:pic>
        <p:nvPicPr>
          <p:cNvPr id="12" name="Image 1" descr="preencoded.png">    </p:cNvPr>
          <p:cNvPicPr>
            <a:picLocks noChangeAspect="1"/>
          </p:cNvPicPr>
          <p:nvPr/>
        </p:nvPicPr>
        <p:blipFill>
          <a:blip r:embed="rId2"/>
          <a:stretch>
            <a:fillRect/>
          </a:stretch>
        </p:blipFill>
        <p:spPr>
          <a:xfrm>
            <a:off x="4481932" y="2628900"/>
            <a:ext cx="411480" cy="411480"/>
          </a:xfrm>
          <a:prstGeom prst="rect">
            <a:avLst/>
          </a:prstGeom>
        </p:spPr>
      </p:pic>
      <p:sp>
        <p:nvSpPr>
          <p:cNvPr id="13" name="Text 9"/>
          <p:cNvSpPr txBox="1"/>
          <p:nvPr/>
        </p:nvSpPr>
        <p:spPr>
          <a:xfrm>
            <a:off x="3553816" y="3429000"/>
            <a:ext cx="2267712" cy="502920"/>
          </a:xfrm>
          <a:prstGeom prst="rect">
            <a:avLst/>
          </a:prstGeom>
          <a:noFill/>
          <a:ln/>
        </p:spPr>
        <p:txBody>
          <a:bodyPr wrap="square" lIns="0" tIns="0" rIns="0" bIns="0" rtlCol="0" anchor="ctr"/>
          <a:lstStyle/>
          <a:p>
            <a:pPr algn="ctr" indent="0" marL="0">
              <a:buNone/>
            </a:pPr>
            <a:r>
              <a:rPr lang="en-US" sz="1800" b="1" dirty="0">
                <a:solidFill>
                  <a:srgbClr val="1F2933"/>
                </a:solidFill>
                <a:latin typeface="Arial" pitchFamily="34" charset="0"/>
                <a:ea typeface="Arial" pitchFamily="34" charset="-122"/>
                <a:cs typeface="Arial" pitchFamily="34" charset="-120"/>
              </a:rPr>
              <a:t>Sumitabh Ahirwar</a:t>
            </a:r>
            <a:endParaRPr lang="en-US" sz="1800" dirty="0"/>
          </a:p>
        </p:txBody>
      </p:sp>
      <p:sp>
        <p:nvSpPr>
          <p:cNvPr id="14" name="Text 10"/>
          <p:cNvSpPr txBox="1"/>
          <p:nvPr/>
        </p:nvSpPr>
        <p:spPr>
          <a:xfrm>
            <a:off x="3553816" y="3931920"/>
            <a:ext cx="2267712" cy="411480"/>
          </a:xfrm>
          <a:prstGeom prst="rect">
            <a:avLst/>
          </a:prstGeom>
          <a:noFill/>
          <a:ln/>
        </p:spPr>
        <p:txBody>
          <a:bodyPr wrap="square" lIns="0" tIns="0" rIns="0" bIns="0" rtlCol="0" anchor="ctr"/>
          <a:lstStyle/>
          <a:p>
            <a:pPr algn="ctr" indent="0" marL="0">
              <a:buNone/>
            </a:pPr>
            <a:r>
              <a:rPr lang="en-US" sz="1500" dirty="0">
                <a:solidFill>
                  <a:srgbClr val="5B6675"/>
                </a:solidFill>
                <a:latin typeface="Calibri" pitchFamily="34" charset="0"/>
                <a:ea typeface="Calibri" pitchFamily="34" charset="-122"/>
                <a:cs typeface="Calibri" pitchFamily="34" charset="-120"/>
              </a:rPr>
              <a:t>Roll No. 20233280</a:t>
            </a:r>
            <a:endParaRPr lang="en-US" sz="1500" dirty="0"/>
          </a:p>
        </p:txBody>
      </p:sp>
      <p:sp>
        <p:nvSpPr>
          <p:cNvPr id="15" name="Shape 11"/>
          <p:cNvSpPr/>
          <p:nvPr/>
        </p:nvSpPr>
        <p:spPr>
          <a:xfrm>
            <a:off x="6233008" y="2057400"/>
            <a:ext cx="2542032" cy="2651760"/>
          </a:xfrm>
          <a:prstGeom prst="rect">
            <a:avLst/>
          </a:prstGeom>
          <a:solidFill>
            <a:srgbClr val="F4F6F8"/>
          </a:solidFill>
          <a:ln w="12700">
            <a:solidFill>
              <a:srgbClr val="F4F6F8"/>
            </a:solidFill>
            <a:prstDash val="solid"/>
          </a:ln>
        </p:spPr>
      </p:sp>
      <p:sp>
        <p:nvSpPr>
          <p:cNvPr id="16" name="Shape 12"/>
          <p:cNvSpPr/>
          <p:nvPr/>
        </p:nvSpPr>
        <p:spPr>
          <a:xfrm>
            <a:off x="7092544" y="2423160"/>
            <a:ext cx="822960" cy="822960"/>
          </a:xfrm>
          <a:prstGeom prst="ellipse">
            <a:avLst/>
          </a:prstGeom>
          <a:solidFill>
            <a:srgbClr val="EAF7EE"/>
          </a:solidFill>
          <a:ln w="12700">
            <a:solidFill>
              <a:srgbClr val="EAF7EE"/>
            </a:solidFill>
            <a:prstDash val="solid"/>
          </a:ln>
        </p:spPr>
      </p:sp>
      <p:pic>
        <p:nvPicPr>
          <p:cNvPr id="17" name="Image 2" descr="preencoded.png">    </p:cNvPr>
          <p:cNvPicPr>
            <a:picLocks noChangeAspect="1"/>
          </p:cNvPicPr>
          <p:nvPr/>
        </p:nvPicPr>
        <p:blipFill>
          <a:blip r:embed="rId3"/>
          <a:stretch>
            <a:fillRect/>
          </a:stretch>
        </p:blipFill>
        <p:spPr>
          <a:xfrm>
            <a:off x="7298284" y="2628900"/>
            <a:ext cx="411480" cy="411480"/>
          </a:xfrm>
          <a:prstGeom prst="rect">
            <a:avLst/>
          </a:prstGeom>
        </p:spPr>
      </p:pic>
      <p:sp>
        <p:nvSpPr>
          <p:cNvPr id="18" name="Text 13"/>
          <p:cNvSpPr txBox="1"/>
          <p:nvPr/>
        </p:nvSpPr>
        <p:spPr>
          <a:xfrm>
            <a:off x="6370168" y="3429000"/>
            <a:ext cx="2267712" cy="502920"/>
          </a:xfrm>
          <a:prstGeom prst="rect">
            <a:avLst/>
          </a:prstGeom>
          <a:noFill/>
          <a:ln/>
        </p:spPr>
        <p:txBody>
          <a:bodyPr wrap="square" lIns="0" tIns="0" rIns="0" bIns="0" rtlCol="0" anchor="ctr"/>
          <a:lstStyle/>
          <a:p>
            <a:pPr algn="ctr" indent="0" marL="0">
              <a:buNone/>
            </a:pPr>
            <a:r>
              <a:rPr lang="en-US" sz="1800" b="1" dirty="0">
                <a:solidFill>
                  <a:srgbClr val="1F2933"/>
                </a:solidFill>
                <a:latin typeface="Arial" pitchFamily="34" charset="0"/>
                <a:ea typeface="Arial" pitchFamily="34" charset="-122"/>
                <a:cs typeface="Arial" pitchFamily="34" charset="-120"/>
              </a:rPr>
              <a:t>Smit Thakkar</a:t>
            </a:r>
            <a:endParaRPr lang="en-US" sz="1800" dirty="0"/>
          </a:p>
        </p:txBody>
      </p:sp>
      <p:sp>
        <p:nvSpPr>
          <p:cNvPr id="19" name="Text 14"/>
          <p:cNvSpPr txBox="1"/>
          <p:nvPr/>
        </p:nvSpPr>
        <p:spPr>
          <a:xfrm>
            <a:off x="6370168" y="3931920"/>
            <a:ext cx="2267712" cy="411480"/>
          </a:xfrm>
          <a:prstGeom prst="rect">
            <a:avLst/>
          </a:prstGeom>
          <a:noFill/>
          <a:ln/>
        </p:spPr>
        <p:txBody>
          <a:bodyPr wrap="square" lIns="0" tIns="0" rIns="0" bIns="0" rtlCol="0" anchor="ctr"/>
          <a:lstStyle/>
          <a:p>
            <a:pPr algn="ctr" indent="0" marL="0">
              <a:buNone/>
            </a:pPr>
            <a:r>
              <a:rPr lang="en-US" sz="1500" dirty="0">
                <a:solidFill>
                  <a:srgbClr val="5B6675"/>
                </a:solidFill>
                <a:latin typeface="Calibri" pitchFamily="34" charset="0"/>
                <a:ea typeface="Calibri" pitchFamily="34" charset="-122"/>
                <a:cs typeface="Calibri" pitchFamily="34" charset="-120"/>
              </a:rPr>
              <a:t>Roll No. 20233570</a:t>
            </a:r>
            <a:endParaRPr lang="en-US" sz="1500" dirty="0"/>
          </a:p>
        </p:txBody>
      </p:sp>
      <p:sp>
        <p:nvSpPr>
          <p:cNvPr id="20" name="Shape 15"/>
          <p:cNvSpPr/>
          <p:nvPr/>
        </p:nvSpPr>
        <p:spPr>
          <a:xfrm>
            <a:off x="9049360" y="2057400"/>
            <a:ext cx="2542032" cy="2651760"/>
          </a:xfrm>
          <a:prstGeom prst="rect">
            <a:avLst/>
          </a:prstGeom>
          <a:solidFill>
            <a:srgbClr val="F4F6F8"/>
          </a:solidFill>
          <a:ln w="12700">
            <a:solidFill>
              <a:srgbClr val="F4F6F8"/>
            </a:solidFill>
            <a:prstDash val="solid"/>
          </a:ln>
        </p:spPr>
      </p:sp>
      <p:sp>
        <p:nvSpPr>
          <p:cNvPr id="21" name="Shape 16"/>
          <p:cNvSpPr/>
          <p:nvPr/>
        </p:nvSpPr>
        <p:spPr>
          <a:xfrm>
            <a:off x="9908896" y="2423160"/>
            <a:ext cx="822960" cy="822960"/>
          </a:xfrm>
          <a:prstGeom prst="ellipse">
            <a:avLst/>
          </a:prstGeom>
          <a:solidFill>
            <a:srgbClr val="EAF7EE"/>
          </a:solidFill>
          <a:ln w="12700">
            <a:solidFill>
              <a:srgbClr val="EAF7EE"/>
            </a:solidFill>
            <a:prstDash val="solid"/>
          </a:ln>
        </p:spPr>
      </p:sp>
      <p:pic>
        <p:nvPicPr>
          <p:cNvPr id="22" name="Image 3" descr="preencoded.png">    </p:cNvPr>
          <p:cNvPicPr>
            <a:picLocks noChangeAspect="1"/>
          </p:cNvPicPr>
          <p:nvPr/>
        </p:nvPicPr>
        <p:blipFill>
          <a:blip r:embed="rId4"/>
          <a:stretch>
            <a:fillRect/>
          </a:stretch>
        </p:blipFill>
        <p:spPr>
          <a:xfrm>
            <a:off x="10114636" y="2628900"/>
            <a:ext cx="411480" cy="411480"/>
          </a:xfrm>
          <a:prstGeom prst="rect">
            <a:avLst/>
          </a:prstGeom>
        </p:spPr>
      </p:pic>
      <p:sp>
        <p:nvSpPr>
          <p:cNvPr id="23" name="Text 17"/>
          <p:cNvSpPr txBox="1"/>
          <p:nvPr/>
        </p:nvSpPr>
        <p:spPr>
          <a:xfrm>
            <a:off x="9186520" y="3429000"/>
            <a:ext cx="2267712" cy="502920"/>
          </a:xfrm>
          <a:prstGeom prst="rect">
            <a:avLst/>
          </a:prstGeom>
          <a:noFill/>
          <a:ln/>
        </p:spPr>
        <p:txBody>
          <a:bodyPr wrap="square" lIns="0" tIns="0" rIns="0" bIns="0" rtlCol="0" anchor="ctr"/>
          <a:lstStyle/>
          <a:p>
            <a:pPr algn="ctr" indent="0" marL="0">
              <a:buNone/>
            </a:pPr>
            <a:r>
              <a:rPr lang="en-US" sz="1800" b="1" dirty="0">
                <a:solidFill>
                  <a:srgbClr val="1F2933"/>
                </a:solidFill>
                <a:latin typeface="Arial" pitchFamily="34" charset="0"/>
                <a:ea typeface="Arial" pitchFamily="34" charset="-122"/>
                <a:cs typeface="Arial" pitchFamily="34" charset="-120"/>
              </a:rPr>
              <a:t>Vishal Prabhu</a:t>
            </a:r>
            <a:endParaRPr lang="en-US" sz="1800" dirty="0"/>
          </a:p>
        </p:txBody>
      </p:sp>
      <p:sp>
        <p:nvSpPr>
          <p:cNvPr id="24" name="Text 18"/>
          <p:cNvSpPr txBox="1"/>
          <p:nvPr/>
        </p:nvSpPr>
        <p:spPr>
          <a:xfrm>
            <a:off x="9186520" y="3931920"/>
            <a:ext cx="2267712" cy="411480"/>
          </a:xfrm>
          <a:prstGeom prst="rect">
            <a:avLst/>
          </a:prstGeom>
          <a:noFill/>
          <a:ln/>
        </p:spPr>
        <p:txBody>
          <a:bodyPr wrap="square" lIns="0" tIns="0" rIns="0" bIns="0" rtlCol="0" anchor="ctr"/>
          <a:lstStyle/>
          <a:p>
            <a:pPr algn="ctr" indent="0" marL="0">
              <a:buNone/>
            </a:pPr>
            <a:r>
              <a:rPr lang="en-US" sz="1500" dirty="0">
                <a:solidFill>
                  <a:srgbClr val="5B6675"/>
                </a:solidFill>
                <a:latin typeface="Calibri" pitchFamily="34" charset="0"/>
                <a:ea typeface="Calibri" pitchFamily="34" charset="-122"/>
                <a:cs typeface="Calibri" pitchFamily="34" charset="-120"/>
              </a:rPr>
              <a:t>Roll No. 20233582</a:t>
            </a:r>
            <a:endParaRPr lang="en-US" sz="1500" dirty="0"/>
          </a:p>
        </p:txBody>
      </p:sp>
      <p:sp>
        <p:nvSpPr>
          <p:cNvPr id="25" name="Text 19"/>
          <p:cNvSpPr txBox="1"/>
          <p:nvPr/>
        </p:nvSpPr>
        <p:spPr>
          <a:xfrm>
            <a:off x="548640" y="5257800"/>
            <a:ext cx="11094415" cy="457200"/>
          </a:xfrm>
          <a:prstGeom prst="rect">
            <a:avLst/>
          </a:prstGeom>
          <a:noFill/>
          <a:ln/>
        </p:spPr>
        <p:txBody>
          <a:bodyPr wrap="square" lIns="0" tIns="0" rIns="0" bIns="0" rtlCol="0" anchor="ctr"/>
          <a:lstStyle/>
          <a:p>
            <a:pPr algn="ctr" indent="0" marL="0">
              <a:buNone/>
            </a:pPr>
            <a:r>
              <a:rPr lang="en-US" sz="1800" b="1" dirty="0">
                <a:solidFill>
                  <a:srgbClr val="1F2933"/>
                </a:solidFill>
                <a:latin typeface="Calibri" pitchFamily="34" charset="0"/>
                <a:ea typeface="Calibri" pitchFamily="34" charset="-122"/>
                <a:cs typeface="Calibri" pitchFamily="34" charset="-120"/>
              </a:rPr>
              <a:t>Course: </a:t>
            </a:r>
            <a:pPr algn="ctr" indent="0" marL="0">
              <a:buNone/>
            </a:pPr>
            <a:r>
              <a:rPr lang="en-US" sz="1800" dirty="0">
                <a:solidFill>
                  <a:srgbClr val="1F2933"/>
                </a:solidFill>
                <a:latin typeface="Calibri" pitchFamily="34" charset="0"/>
                <a:ea typeface="Calibri" pitchFamily="34" charset="-122"/>
                <a:cs typeface="Calibri" pitchFamily="34" charset="-120"/>
              </a:rPr>
              <a:t>Image Processing and Computer Vision</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1129284" cy="310896"/>
          </a:xfrm>
          <a:prstGeom prst="rect">
            <a:avLst/>
          </a:prstGeom>
          <a:solidFill>
            <a:srgbClr val="16A34A"/>
          </a:solidFill>
          <a:ln w="12700">
            <a:solidFill>
              <a:srgbClr val="16A34A"/>
            </a:solidFill>
            <a:prstDash val="solid"/>
          </a:ln>
        </p:spPr>
      </p:sp>
      <p:sp>
        <p:nvSpPr>
          <p:cNvPr id="3" name="Text 1"/>
          <p:cNvSpPr txBox="1"/>
          <p:nvPr/>
        </p:nvSpPr>
        <p:spPr>
          <a:xfrm>
            <a:off x="548640" y="411480"/>
            <a:ext cx="1129284" cy="310896"/>
          </a:xfrm>
          <a:prstGeom prst="rect">
            <a:avLst/>
          </a:prstGeom>
          <a:noFill/>
          <a:ln/>
        </p:spPr>
        <p:txBody>
          <a:bodyPr wrap="none" lIns="0" tIns="0" rIns="0" bIns="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PROBLEM</a:t>
            </a:r>
            <a:endParaRPr lang="en-US" sz="1100" dirty="0"/>
          </a:p>
        </p:txBody>
      </p:sp>
      <p:sp>
        <p:nvSpPr>
          <p:cNvPr id="4" name="Text 2"/>
          <p:cNvSpPr txBox="1"/>
          <p:nvPr/>
        </p:nvSpPr>
        <p:spPr>
          <a:xfrm>
            <a:off x="548640" y="777240"/>
            <a:ext cx="11094415" cy="777240"/>
          </a:xfrm>
          <a:prstGeom prst="rect">
            <a:avLst/>
          </a:prstGeom>
          <a:noFill/>
          <a:ln/>
        </p:spPr>
        <p:txBody>
          <a:bodyPr wrap="square" lIns="0" tIns="0" rIns="0" bIns="0" rtlCol="0" anchor="ctr"/>
          <a:lstStyle/>
          <a:p>
            <a:pPr indent="0" marL="0">
              <a:buNone/>
            </a:pPr>
            <a:r>
              <a:rPr lang="en-US" sz="3400" b="1" dirty="0">
                <a:solidFill>
                  <a:srgbClr val="1F2933"/>
                </a:solidFill>
                <a:latin typeface="Arial" pitchFamily="34" charset="0"/>
                <a:ea typeface="Arial" pitchFamily="34" charset="-122"/>
                <a:cs typeface="Arial" pitchFamily="34" charset="-120"/>
              </a:rPr>
              <a:t>Problem Statement</a:t>
            </a:r>
            <a:endParaRPr lang="en-US" sz="3400" dirty="0"/>
          </a:p>
        </p:txBody>
      </p:sp>
      <p:sp>
        <p:nvSpPr>
          <p:cNvPr id="5" name="Text 3"/>
          <p:cNvSpPr txBox="1"/>
          <p:nvPr/>
        </p:nvSpPr>
        <p:spPr>
          <a:xfrm>
            <a:off x="548640" y="1828800"/>
            <a:ext cx="5394960" cy="1737360"/>
          </a:xfrm>
          <a:prstGeom prst="rect">
            <a:avLst/>
          </a:prstGeom>
          <a:noFill/>
          <a:ln/>
        </p:spPr>
        <p:txBody>
          <a:bodyPr wrap="square" lIns="0" tIns="0" rIns="0" bIns="0" rtlCol="0" anchor="t"/>
          <a:lstStyle/>
          <a:p>
            <a:pPr indent="0" marL="0">
              <a:buNone/>
            </a:pPr>
            <a:r>
              <a:rPr lang="en-US" sz="2400" b="1" dirty="0">
                <a:solidFill>
                  <a:srgbClr val="1F2933"/>
                </a:solidFill>
                <a:latin typeface="Arial" pitchFamily="34" charset="0"/>
                <a:ea typeface="Arial" pitchFamily="34" charset="-122"/>
                <a:cs typeface="Arial" pitchFamily="34" charset="-120"/>
              </a:rPr>
              <a:t>Automatically find and name everyday objects in live webcam video, and show the result instantly with a confidence score.</a:t>
            </a:r>
            <a:endParaRPr lang="en-US" sz="2400" dirty="0"/>
          </a:p>
        </p:txBody>
      </p:sp>
      <p:sp>
        <p:nvSpPr>
          <p:cNvPr id="6" name="Text 4"/>
          <p:cNvSpPr txBox="1"/>
          <p:nvPr/>
        </p:nvSpPr>
        <p:spPr>
          <a:xfrm>
            <a:off x="548640" y="3840480"/>
            <a:ext cx="5120640" cy="1097280"/>
          </a:xfrm>
          <a:prstGeom prst="rect">
            <a:avLst/>
          </a:prstGeom>
          <a:noFill/>
          <a:ln/>
        </p:spPr>
        <p:txBody>
          <a:bodyPr wrap="square" lIns="0" tIns="0" rIns="0" bIns="0" rtlCol="0" anchor="ctr"/>
          <a:lstStyle/>
          <a:p>
            <a:pPr indent="0" marL="0">
              <a:buNone/>
            </a:pPr>
            <a:r>
              <a:rPr lang="en-US" sz="1700" i="1" dirty="0">
                <a:solidFill>
                  <a:srgbClr val="5B6675"/>
                </a:solidFill>
                <a:latin typeface="Calibri" pitchFamily="34" charset="0"/>
                <a:ea typeface="Calibri" pitchFamily="34" charset="-122"/>
                <a:cs typeface="Calibri" pitchFamily="34" charset="-120"/>
              </a:rPr>
              <a:t>We do not invent a new detection algorithm. We build a small, reliable system around a pretrained detector and test it.</a:t>
            </a:r>
            <a:endParaRPr lang="en-US" sz="1700" dirty="0"/>
          </a:p>
        </p:txBody>
      </p:sp>
      <p:sp>
        <p:nvSpPr>
          <p:cNvPr id="7" name="Shape 5"/>
          <p:cNvSpPr/>
          <p:nvPr/>
        </p:nvSpPr>
        <p:spPr>
          <a:xfrm>
            <a:off x="6629400" y="1828800"/>
            <a:ext cx="658368" cy="658368"/>
          </a:xfrm>
          <a:prstGeom prst="ellipse">
            <a:avLst/>
          </a:prstGeom>
          <a:solidFill>
            <a:srgbClr val="EAF7EE"/>
          </a:solidFill>
          <a:ln w="12700">
            <a:solidFill>
              <a:srgbClr val="EAF7EE"/>
            </a:solidFill>
            <a:prstDash val="solid"/>
          </a:ln>
        </p:spPr>
      </p:sp>
      <p:pic>
        <p:nvPicPr>
          <p:cNvPr id="8" name="Image 0" descr="preencoded.png">    </p:cNvPr>
          <p:cNvPicPr>
            <a:picLocks noChangeAspect="1"/>
          </p:cNvPicPr>
          <p:nvPr/>
        </p:nvPicPr>
        <p:blipFill>
          <a:blip r:embed="rId1"/>
          <a:stretch>
            <a:fillRect/>
          </a:stretch>
        </p:blipFill>
        <p:spPr>
          <a:xfrm>
            <a:off x="6793992" y="1993392"/>
            <a:ext cx="329184" cy="329184"/>
          </a:xfrm>
          <a:prstGeom prst="rect">
            <a:avLst/>
          </a:prstGeom>
        </p:spPr>
      </p:pic>
      <p:sp>
        <p:nvSpPr>
          <p:cNvPr id="9" name="Text 6"/>
          <p:cNvSpPr txBox="1"/>
          <p:nvPr/>
        </p:nvSpPr>
        <p:spPr>
          <a:xfrm>
            <a:off x="7498080" y="1810512"/>
            <a:ext cx="4114800" cy="347472"/>
          </a:xfrm>
          <a:prstGeom prst="rect">
            <a:avLst/>
          </a:prstGeom>
          <a:noFill/>
          <a:ln/>
        </p:spPr>
        <p:txBody>
          <a:bodyPr wrap="square" lIns="0" tIns="0" rIns="0" bIns="0" rtlCol="0" anchor="ctr"/>
          <a:lstStyle/>
          <a:p>
            <a:pPr indent="0" marL="0">
              <a:buNone/>
            </a:pPr>
            <a:r>
              <a:rPr lang="en-US" sz="1700" b="1" dirty="0">
                <a:solidFill>
                  <a:srgbClr val="1F2933"/>
                </a:solidFill>
                <a:latin typeface="Arial" pitchFamily="34" charset="0"/>
                <a:ea typeface="Arial" pitchFamily="34" charset="-122"/>
                <a:cs typeface="Arial" pitchFamily="34" charset="-120"/>
              </a:rPr>
              <a:t>Fast</a:t>
            </a:r>
            <a:endParaRPr lang="en-US" sz="1700" dirty="0"/>
          </a:p>
        </p:txBody>
      </p:sp>
      <p:sp>
        <p:nvSpPr>
          <p:cNvPr id="10" name="Text 7"/>
          <p:cNvSpPr txBox="1"/>
          <p:nvPr/>
        </p:nvSpPr>
        <p:spPr>
          <a:xfrm>
            <a:off x="7498080" y="2157984"/>
            <a:ext cx="4114800" cy="365760"/>
          </a:xfrm>
          <a:prstGeom prst="rect">
            <a:avLst/>
          </a:prstGeom>
          <a:noFill/>
          <a:ln/>
        </p:spPr>
        <p:txBody>
          <a:bodyPr wrap="square" lIns="0" tIns="0" rIns="0" bIns="0" rtlCol="0" anchor="ctr"/>
          <a:lstStyle/>
          <a:p>
            <a:pPr indent="0" marL="0">
              <a:buNone/>
            </a:pPr>
            <a:r>
              <a:rPr lang="en-US" sz="1500" dirty="0">
                <a:solidFill>
                  <a:srgbClr val="5B6675"/>
                </a:solidFill>
                <a:latin typeface="Calibri" pitchFamily="34" charset="0"/>
                <a:ea typeface="Calibri" pitchFamily="34" charset="-122"/>
                <a:cs typeface="Calibri" pitchFamily="34" charset="-120"/>
              </a:rPr>
              <a:t>A webcam delivers up to ~30 frames per second</a:t>
            </a:r>
            <a:endParaRPr lang="en-US" sz="1500" dirty="0"/>
          </a:p>
        </p:txBody>
      </p:sp>
      <p:sp>
        <p:nvSpPr>
          <p:cNvPr id="11" name="Shape 8"/>
          <p:cNvSpPr/>
          <p:nvPr/>
        </p:nvSpPr>
        <p:spPr>
          <a:xfrm>
            <a:off x="6629400" y="2852928"/>
            <a:ext cx="658368" cy="658368"/>
          </a:xfrm>
          <a:prstGeom prst="ellipse">
            <a:avLst/>
          </a:prstGeom>
          <a:solidFill>
            <a:srgbClr val="EAF7EE"/>
          </a:solidFill>
          <a:ln w="12700">
            <a:solidFill>
              <a:srgbClr val="EAF7EE"/>
            </a:solidFill>
            <a:prstDash val="solid"/>
          </a:ln>
        </p:spPr>
      </p:sp>
      <p:pic>
        <p:nvPicPr>
          <p:cNvPr id="12" name="Image 1" descr="preencoded.png">    </p:cNvPr>
          <p:cNvPicPr>
            <a:picLocks noChangeAspect="1"/>
          </p:cNvPicPr>
          <p:nvPr/>
        </p:nvPicPr>
        <p:blipFill>
          <a:blip r:embed="rId2"/>
          <a:stretch>
            <a:fillRect/>
          </a:stretch>
        </p:blipFill>
        <p:spPr>
          <a:xfrm>
            <a:off x="6793992" y="3017520"/>
            <a:ext cx="329184" cy="329184"/>
          </a:xfrm>
          <a:prstGeom prst="rect">
            <a:avLst/>
          </a:prstGeom>
        </p:spPr>
      </p:pic>
      <p:sp>
        <p:nvSpPr>
          <p:cNvPr id="13" name="Text 9"/>
          <p:cNvSpPr txBox="1"/>
          <p:nvPr/>
        </p:nvSpPr>
        <p:spPr>
          <a:xfrm>
            <a:off x="7498080" y="2834640"/>
            <a:ext cx="4114800" cy="347472"/>
          </a:xfrm>
          <a:prstGeom prst="rect">
            <a:avLst/>
          </a:prstGeom>
          <a:noFill/>
          <a:ln/>
        </p:spPr>
        <p:txBody>
          <a:bodyPr wrap="square" lIns="0" tIns="0" rIns="0" bIns="0" rtlCol="0" anchor="ctr"/>
          <a:lstStyle/>
          <a:p>
            <a:pPr indent="0" marL="0">
              <a:buNone/>
            </a:pPr>
            <a:r>
              <a:rPr lang="en-US" sz="1700" b="1" dirty="0">
                <a:solidFill>
                  <a:srgbClr val="1F2933"/>
                </a:solidFill>
                <a:latin typeface="Arial" pitchFamily="34" charset="0"/>
                <a:ea typeface="Arial" pitchFamily="34" charset="-122"/>
                <a:cs typeface="Arial" pitchFamily="34" charset="-120"/>
              </a:rPr>
              <a:t>Varied scenes</a:t>
            </a:r>
            <a:endParaRPr lang="en-US" sz="1700" dirty="0"/>
          </a:p>
        </p:txBody>
      </p:sp>
      <p:sp>
        <p:nvSpPr>
          <p:cNvPr id="14" name="Text 10"/>
          <p:cNvSpPr txBox="1"/>
          <p:nvPr/>
        </p:nvSpPr>
        <p:spPr>
          <a:xfrm>
            <a:off x="7498080" y="3182112"/>
            <a:ext cx="4114800" cy="365760"/>
          </a:xfrm>
          <a:prstGeom prst="rect">
            <a:avLst/>
          </a:prstGeom>
          <a:noFill/>
          <a:ln/>
        </p:spPr>
        <p:txBody>
          <a:bodyPr wrap="square" lIns="0" tIns="0" rIns="0" bIns="0" rtlCol="0" anchor="ctr"/>
          <a:lstStyle/>
          <a:p>
            <a:pPr indent="0" marL="0">
              <a:buNone/>
            </a:pPr>
            <a:r>
              <a:rPr lang="en-US" sz="1500" dirty="0">
                <a:solidFill>
                  <a:srgbClr val="5B6675"/>
                </a:solidFill>
                <a:latin typeface="Calibri" pitchFamily="34" charset="0"/>
                <a:ea typeface="Calibri" pitchFamily="34" charset="-122"/>
                <a:cs typeface="Calibri" pitchFamily="34" charset="-120"/>
              </a:rPr>
              <a:t>Objects change in size, position and lighting</a:t>
            </a:r>
            <a:endParaRPr lang="en-US" sz="1500" dirty="0"/>
          </a:p>
        </p:txBody>
      </p:sp>
      <p:sp>
        <p:nvSpPr>
          <p:cNvPr id="15" name="Shape 11"/>
          <p:cNvSpPr/>
          <p:nvPr/>
        </p:nvSpPr>
        <p:spPr>
          <a:xfrm>
            <a:off x="6629400" y="3877056"/>
            <a:ext cx="658368" cy="658368"/>
          </a:xfrm>
          <a:prstGeom prst="ellipse">
            <a:avLst/>
          </a:prstGeom>
          <a:solidFill>
            <a:srgbClr val="EAF7EE"/>
          </a:solidFill>
          <a:ln w="12700">
            <a:solidFill>
              <a:srgbClr val="EAF7EE"/>
            </a:solidFill>
            <a:prstDash val="solid"/>
          </a:ln>
        </p:spPr>
      </p:sp>
      <p:pic>
        <p:nvPicPr>
          <p:cNvPr id="16" name="Image 2" descr="preencoded.png">    </p:cNvPr>
          <p:cNvPicPr>
            <a:picLocks noChangeAspect="1"/>
          </p:cNvPicPr>
          <p:nvPr/>
        </p:nvPicPr>
        <p:blipFill>
          <a:blip r:embed="rId3"/>
          <a:stretch>
            <a:fillRect/>
          </a:stretch>
        </p:blipFill>
        <p:spPr>
          <a:xfrm>
            <a:off x="6793992" y="4041648"/>
            <a:ext cx="329184" cy="329184"/>
          </a:xfrm>
          <a:prstGeom prst="rect">
            <a:avLst/>
          </a:prstGeom>
        </p:spPr>
      </p:pic>
      <p:sp>
        <p:nvSpPr>
          <p:cNvPr id="17" name="Text 12"/>
          <p:cNvSpPr txBox="1"/>
          <p:nvPr/>
        </p:nvSpPr>
        <p:spPr>
          <a:xfrm>
            <a:off x="7498080" y="3858768"/>
            <a:ext cx="4114800" cy="347472"/>
          </a:xfrm>
          <a:prstGeom prst="rect">
            <a:avLst/>
          </a:prstGeom>
          <a:noFill/>
          <a:ln/>
        </p:spPr>
        <p:txBody>
          <a:bodyPr wrap="square" lIns="0" tIns="0" rIns="0" bIns="0" rtlCol="0" anchor="ctr"/>
          <a:lstStyle/>
          <a:p>
            <a:pPr indent="0" marL="0">
              <a:buNone/>
            </a:pPr>
            <a:r>
              <a:rPr lang="en-US" sz="1700" b="1" dirty="0">
                <a:solidFill>
                  <a:srgbClr val="1F2933"/>
                </a:solidFill>
                <a:latin typeface="Arial" pitchFamily="34" charset="0"/>
                <a:ea typeface="Arial" pitchFamily="34" charset="-122"/>
                <a:cs typeface="Arial" pitchFamily="34" charset="-120"/>
              </a:rPr>
              <a:t>Normal hardware</a:t>
            </a:r>
            <a:endParaRPr lang="en-US" sz="1700" dirty="0"/>
          </a:p>
        </p:txBody>
      </p:sp>
      <p:sp>
        <p:nvSpPr>
          <p:cNvPr id="18" name="Text 13"/>
          <p:cNvSpPr txBox="1"/>
          <p:nvPr/>
        </p:nvSpPr>
        <p:spPr>
          <a:xfrm>
            <a:off x="7498080" y="4206240"/>
            <a:ext cx="4114800" cy="365760"/>
          </a:xfrm>
          <a:prstGeom prst="rect">
            <a:avLst/>
          </a:prstGeom>
          <a:noFill/>
          <a:ln/>
        </p:spPr>
        <p:txBody>
          <a:bodyPr wrap="square" lIns="0" tIns="0" rIns="0" bIns="0" rtlCol="0" anchor="ctr"/>
          <a:lstStyle/>
          <a:p>
            <a:pPr indent="0" marL="0">
              <a:buNone/>
            </a:pPr>
            <a:r>
              <a:rPr lang="en-US" sz="1500" dirty="0">
                <a:solidFill>
                  <a:srgbClr val="5B6675"/>
                </a:solidFill>
                <a:latin typeface="Calibri" pitchFamily="34" charset="0"/>
                <a:ea typeface="Calibri" pitchFamily="34" charset="-122"/>
                <a:cs typeface="Calibri" pitchFamily="34" charset="-120"/>
              </a:rPr>
              <a:t>Must run on a student laptop without a GPU</a:t>
            </a:r>
            <a:endParaRPr lang="en-US" sz="1500" dirty="0"/>
          </a:p>
        </p:txBody>
      </p:sp>
      <p:sp>
        <p:nvSpPr>
          <p:cNvPr id="19" name="Shape 14"/>
          <p:cNvSpPr/>
          <p:nvPr/>
        </p:nvSpPr>
        <p:spPr>
          <a:xfrm>
            <a:off x="6629400" y="4901184"/>
            <a:ext cx="658368" cy="658368"/>
          </a:xfrm>
          <a:prstGeom prst="ellipse">
            <a:avLst/>
          </a:prstGeom>
          <a:solidFill>
            <a:srgbClr val="EAF7EE"/>
          </a:solidFill>
          <a:ln w="12700">
            <a:solidFill>
              <a:srgbClr val="EAF7EE"/>
            </a:solidFill>
            <a:prstDash val="solid"/>
          </a:ln>
        </p:spPr>
      </p:sp>
      <p:pic>
        <p:nvPicPr>
          <p:cNvPr id="20" name="Image 3" descr="preencoded.png">    </p:cNvPr>
          <p:cNvPicPr>
            <a:picLocks noChangeAspect="1"/>
          </p:cNvPicPr>
          <p:nvPr/>
        </p:nvPicPr>
        <p:blipFill>
          <a:blip r:embed="rId4"/>
          <a:stretch>
            <a:fillRect/>
          </a:stretch>
        </p:blipFill>
        <p:spPr>
          <a:xfrm>
            <a:off x="6793992" y="5065776"/>
            <a:ext cx="329184" cy="329184"/>
          </a:xfrm>
          <a:prstGeom prst="rect">
            <a:avLst/>
          </a:prstGeom>
        </p:spPr>
      </p:pic>
      <p:sp>
        <p:nvSpPr>
          <p:cNvPr id="21" name="Text 15"/>
          <p:cNvSpPr txBox="1"/>
          <p:nvPr/>
        </p:nvSpPr>
        <p:spPr>
          <a:xfrm>
            <a:off x="7498080" y="4882896"/>
            <a:ext cx="4114800" cy="347472"/>
          </a:xfrm>
          <a:prstGeom prst="rect">
            <a:avLst/>
          </a:prstGeom>
          <a:noFill/>
          <a:ln/>
        </p:spPr>
        <p:txBody>
          <a:bodyPr wrap="square" lIns="0" tIns="0" rIns="0" bIns="0" rtlCol="0" anchor="ctr"/>
          <a:lstStyle/>
          <a:p>
            <a:pPr indent="0" marL="0">
              <a:buNone/>
            </a:pPr>
            <a:r>
              <a:rPr lang="en-US" sz="1700" b="1" dirty="0">
                <a:solidFill>
                  <a:srgbClr val="1F2933"/>
                </a:solidFill>
                <a:latin typeface="Arial" pitchFamily="34" charset="0"/>
                <a:ea typeface="Arial" pitchFamily="34" charset="-122"/>
                <a:cs typeface="Arial" pitchFamily="34" charset="-120"/>
              </a:rPr>
              <a:t>Easy to read</a:t>
            </a:r>
            <a:endParaRPr lang="en-US" sz="1700" dirty="0"/>
          </a:p>
        </p:txBody>
      </p:sp>
      <p:sp>
        <p:nvSpPr>
          <p:cNvPr id="22" name="Text 16"/>
          <p:cNvSpPr txBox="1"/>
          <p:nvPr/>
        </p:nvSpPr>
        <p:spPr>
          <a:xfrm>
            <a:off x="7498080" y="5230368"/>
            <a:ext cx="4114800" cy="365760"/>
          </a:xfrm>
          <a:prstGeom prst="rect">
            <a:avLst/>
          </a:prstGeom>
          <a:noFill/>
          <a:ln/>
        </p:spPr>
        <p:txBody>
          <a:bodyPr wrap="square" lIns="0" tIns="0" rIns="0" bIns="0" rtlCol="0" anchor="ctr"/>
          <a:lstStyle/>
          <a:p>
            <a:pPr indent="0" marL="0">
              <a:buNone/>
            </a:pPr>
            <a:r>
              <a:rPr lang="en-US" sz="1500" dirty="0">
                <a:solidFill>
                  <a:srgbClr val="5B6675"/>
                </a:solidFill>
                <a:latin typeface="Calibri" pitchFamily="34" charset="0"/>
                <a:ea typeface="Calibri" pitchFamily="34" charset="-122"/>
                <a:cs typeface="Calibri" pitchFamily="34" charset="-120"/>
              </a:rPr>
              <a:t>Output must be clear to non-programmers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1472184" cy="310896"/>
          </a:xfrm>
          <a:prstGeom prst="rect">
            <a:avLst/>
          </a:prstGeom>
          <a:solidFill>
            <a:srgbClr val="16A34A"/>
          </a:solidFill>
          <a:ln w="12700">
            <a:solidFill>
              <a:srgbClr val="16A34A"/>
            </a:solidFill>
            <a:prstDash val="solid"/>
          </a:ln>
        </p:spPr>
      </p:sp>
      <p:sp>
        <p:nvSpPr>
          <p:cNvPr id="3" name="Text 1"/>
          <p:cNvSpPr txBox="1"/>
          <p:nvPr/>
        </p:nvSpPr>
        <p:spPr>
          <a:xfrm>
            <a:off x="548640" y="411480"/>
            <a:ext cx="1472184" cy="310896"/>
          </a:xfrm>
          <a:prstGeom prst="rect">
            <a:avLst/>
          </a:prstGeom>
          <a:noFill/>
          <a:ln/>
        </p:spPr>
        <p:txBody>
          <a:bodyPr wrap="none" lIns="0" tIns="0" rIns="0" bIns="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OBJECTIVES</a:t>
            </a:r>
            <a:endParaRPr lang="en-US" sz="1100" dirty="0"/>
          </a:p>
        </p:txBody>
      </p:sp>
      <p:sp>
        <p:nvSpPr>
          <p:cNvPr id="4" name="Text 2"/>
          <p:cNvSpPr txBox="1"/>
          <p:nvPr/>
        </p:nvSpPr>
        <p:spPr>
          <a:xfrm>
            <a:off x="548640" y="777240"/>
            <a:ext cx="11094415" cy="777240"/>
          </a:xfrm>
          <a:prstGeom prst="rect">
            <a:avLst/>
          </a:prstGeom>
          <a:noFill/>
          <a:ln/>
        </p:spPr>
        <p:txBody>
          <a:bodyPr wrap="square" lIns="0" tIns="0" rIns="0" bIns="0" rtlCol="0" anchor="ctr"/>
          <a:lstStyle/>
          <a:p>
            <a:pPr indent="0" marL="0">
              <a:buNone/>
            </a:pPr>
            <a:r>
              <a:rPr lang="en-US" sz="3400" b="1" dirty="0">
                <a:solidFill>
                  <a:srgbClr val="1F2933"/>
                </a:solidFill>
                <a:latin typeface="Arial" pitchFamily="34" charset="0"/>
                <a:ea typeface="Arial" pitchFamily="34" charset="-122"/>
                <a:cs typeface="Arial" pitchFamily="34" charset="-120"/>
              </a:rPr>
              <a:t>Objectives</a:t>
            </a:r>
            <a:endParaRPr lang="en-US" sz="3400" dirty="0"/>
          </a:p>
        </p:txBody>
      </p:sp>
      <p:sp>
        <p:nvSpPr>
          <p:cNvPr id="5" name="Shape 3"/>
          <p:cNvSpPr/>
          <p:nvPr/>
        </p:nvSpPr>
        <p:spPr>
          <a:xfrm>
            <a:off x="548640" y="1874520"/>
            <a:ext cx="3520440" cy="1737360"/>
          </a:xfrm>
          <a:prstGeom prst="rect">
            <a:avLst/>
          </a:prstGeom>
          <a:solidFill>
            <a:srgbClr val="F4F6F8"/>
          </a:solidFill>
          <a:ln w="12700">
            <a:solidFill>
              <a:srgbClr val="F4F6F8"/>
            </a:solidFill>
            <a:prstDash val="solid"/>
          </a:ln>
        </p:spPr>
      </p:sp>
      <p:sp>
        <p:nvSpPr>
          <p:cNvPr id="6" name="Shape 4"/>
          <p:cNvSpPr/>
          <p:nvPr/>
        </p:nvSpPr>
        <p:spPr>
          <a:xfrm>
            <a:off x="822960" y="2148840"/>
            <a:ext cx="566928" cy="566928"/>
          </a:xfrm>
          <a:prstGeom prst="ellipse">
            <a:avLst/>
          </a:prstGeom>
          <a:solidFill>
            <a:srgbClr val="16A34A"/>
          </a:solidFill>
          <a:ln w="12700">
            <a:solidFill>
              <a:srgbClr val="16A34A"/>
            </a:solidFill>
            <a:prstDash val="solid"/>
          </a:ln>
        </p:spPr>
      </p:sp>
      <p:sp>
        <p:nvSpPr>
          <p:cNvPr id="7" name="Text 5"/>
          <p:cNvSpPr txBox="1"/>
          <p:nvPr/>
        </p:nvSpPr>
        <p:spPr>
          <a:xfrm>
            <a:off x="822960" y="214884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8" name="Text 6"/>
          <p:cNvSpPr txBox="1"/>
          <p:nvPr/>
        </p:nvSpPr>
        <p:spPr>
          <a:xfrm>
            <a:off x="822960" y="2788920"/>
            <a:ext cx="2971800" cy="685800"/>
          </a:xfrm>
          <a:prstGeom prst="rect">
            <a:avLst/>
          </a:prstGeom>
          <a:noFill/>
          <a:ln/>
        </p:spPr>
        <p:txBody>
          <a:bodyPr wrap="square" lIns="0" tIns="0" rIns="0" bIns="0" rtlCol="0" anchor="t"/>
          <a:lstStyle/>
          <a:p>
            <a:pPr indent="0" marL="0">
              <a:buNone/>
            </a:pPr>
            <a:r>
              <a:rPr lang="en-US" sz="1600" dirty="0">
                <a:solidFill>
                  <a:srgbClr val="1F2933"/>
                </a:solidFill>
                <a:latin typeface="Calibri" pitchFamily="34" charset="0"/>
                <a:ea typeface="Calibri" pitchFamily="34" charset="-122"/>
                <a:cs typeface="Calibri" pitchFamily="34" charset="-120"/>
              </a:rPr>
              <a:t>Capture live webcam frames with OpenCV</a:t>
            </a:r>
            <a:endParaRPr lang="en-US" sz="1600" dirty="0"/>
          </a:p>
        </p:txBody>
      </p:sp>
      <p:sp>
        <p:nvSpPr>
          <p:cNvPr id="9" name="Shape 7"/>
          <p:cNvSpPr/>
          <p:nvPr/>
        </p:nvSpPr>
        <p:spPr>
          <a:xfrm>
            <a:off x="4343400" y="1874520"/>
            <a:ext cx="3520440" cy="1737360"/>
          </a:xfrm>
          <a:prstGeom prst="rect">
            <a:avLst/>
          </a:prstGeom>
          <a:solidFill>
            <a:srgbClr val="F4F6F8"/>
          </a:solidFill>
          <a:ln w="12700">
            <a:solidFill>
              <a:srgbClr val="F4F6F8"/>
            </a:solidFill>
            <a:prstDash val="solid"/>
          </a:ln>
        </p:spPr>
      </p:sp>
      <p:sp>
        <p:nvSpPr>
          <p:cNvPr id="10" name="Shape 8"/>
          <p:cNvSpPr/>
          <p:nvPr/>
        </p:nvSpPr>
        <p:spPr>
          <a:xfrm>
            <a:off x="4617720" y="2148840"/>
            <a:ext cx="566928" cy="566928"/>
          </a:xfrm>
          <a:prstGeom prst="ellipse">
            <a:avLst/>
          </a:prstGeom>
          <a:solidFill>
            <a:srgbClr val="16A34A"/>
          </a:solidFill>
          <a:ln w="12700">
            <a:solidFill>
              <a:srgbClr val="16A34A"/>
            </a:solidFill>
            <a:prstDash val="solid"/>
          </a:ln>
        </p:spPr>
      </p:sp>
      <p:sp>
        <p:nvSpPr>
          <p:cNvPr id="11" name="Text 9"/>
          <p:cNvSpPr txBox="1"/>
          <p:nvPr/>
        </p:nvSpPr>
        <p:spPr>
          <a:xfrm>
            <a:off x="4617720" y="214884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2" name="Text 10"/>
          <p:cNvSpPr txBox="1"/>
          <p:nvPr/>
        </p:nvSpPr>
        <p:spPr>
          <a:xfrm>
            <a:off x="4617720" y="2788920"/>
            <a:ext cx="2971800" cy="685800"/>
          </a:xfrm>
          <a:prstGeom prst="rect">
            <a:avLst/>
          </a:prstGeom>
          <a:noFill/>
          <a:ln/>
        </p:spPr>
        <p:txBody>
          <a:bodyPr wrap="square" lIns="0" tIns="0" rIns="0" bIns="0" rtlCol="0" anchor="t"/>
          <a:lstStyle/>
          <a:p>
            <a:pPr indent="0" marL="0">
              <a:buNone/>
            </a:pPr>
            <a:r>
              <a:rPr lang="en-US" sz="1600" dirty="0">
                <a:solidFill>
                  <a:srgbClr val="1F2933"/>
                </a:solidFill>
                <a:latin typeface="Calibri" pitchFamily="34" charset="0"/>
                <a:ea typeface="Calibri" pitchFamily="34" charset="-122"/>
                <a:cs typeface="Calibri" pitchFamily="34" charset="-120"/>
              </a:rPr>
              <a:t>Detect objects with a pretrained, lightweight YOLO model</a:t>
            </a:r>
            <a:endParaRPr lang="en-US" sz="1600" dirty="0"/>
          </a:p>
        </p:txBody>
      </p:sp>
      <p:sp>
        <p:nvSpPr>
          <p:cNvPr id="13" name="Shape 11"/>
          <p:cNvSpPr/>
          <p:nvPr/>
        </p:nvSpPr>
        <p:spPr>
          <a:xfrm>
            <a:off x="8138160" y="1874520"/>
            <a:ext cx="3520440" cy="1737360"/>
          </a:xfrm>
          <a:prstGeom prst="rect">
            <a:avLst/>
          </a:prstGeom>
          <a:solidFill>
            <a:srgbClr val="F4F6F8"/>
          </a:solidFill>
          <a:ln w="12700">
            <a:solidFill>
              <a:srgbClr val="F4F6F8"/>
            </a:solidFill>
            <a:prstDash val="solid"/>
          </a:ln>
        </p:spPr>
      </p:sp>
      <p:sp>
        <p:nvSpPr>
          <p:cNvPr id="14" name="Shape 12"/>
          <p:cNvSpPr/>
          <p:nvPr/>
        </p:nvSpPr>
        <p:spPr>
          <a:xfrm>
            <a:off x="8412480" y="2148840"/>
            <a:ext cx="566928" cy="566928"/>
          </a:xfrm>
          <a:prstGeom prst="ellipse">
            <a:avLst/>
          </a:prstGeom>
          <a:solidFill>
            <a:srgbClr val="16A34A"/>
          </a:solidFill>
          <a:ln w="12700">
            <a:solidFill>
              <a:srgbClr val="16A34A"/>
            </a:solidFill>
            <a:prstDash val="solid"/>
          </a:ln>
        </p:spPr>
      </p:sp>
      <p:sp>
        <p:nvSpPr>
          <p:cNvPr id="15" name="Text 13"/>
          <p:cNvSpPr txBox="1"/>
          <p:nvPr/>
        </p:nvSpPr>
        <p:spPr>
          <a:xfrm>
            <a:off x="8412480" y="214884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6" name="Text 14"/>
          <p:cNvSpPr txBox="1"/>
          <p:nvPr/>
        </p:nvSpPr>
        <p:spPr>
          <a:xfrm>
            <a:off x="8412480" y="2788920"/>
            <a:ext cx="2971800" cy="685800"/>
          </a:xfrm>
          <a:prstGeom prst="rect">
            <a:avLst/>
          </a:prstGeom>
          <a:noFill/>
          <a:ln/>
        </p:spPr>
        <p:txBody>
          <a:bodyPr wrap="square" lIns="0" tIns="0" rIns="0" bIns="0" rtlCol="0" anchor="t"/>
          <a:lstStyle/>
          <a:p>
            <a:pPr indent="0" marL="0">
              <a:buNone/>
            </a:pPr>
            <a:r>
              <a:rPr lang="en-US" sz="1600" dirty="0">
                <a:solidFill>
                  <a:srgbClr val="1F2933"/>
                </a:solidFill>
                <a:latin typeface="Calibri" pitchFamily="34" charset="0"/>
                <a:ea typeface="Calibri" pitchFamily="34" charset="-122"/>
                <a:cs typeface="Calibri" pitchFamily="34" charset="-120"/>
              </a:rPr>
              <a:t>Draw bounding boxes, class names and confidence scores</a:t>
            </a:r>
            <a:endParaRPr lang="en-US" sz="1600" dirty="0"/>
          </a:p>
        </p:txBody>
      </p:sp>
      <p:sp>
        <p:nvSpPr>
          <p:cNvPr id="17" name="Shape 15"/>
          <p:cNvSpPr/>
          <p:nvPr/>
        </p:nvSpPr>
        <p:spPr>
          <a:xfrm>
            <a:off x="548640" y="3886200"/>
            <a:ext cx="3520440" cy="1737360"/>
          </a:xfrm>
          <a:prstGeom prst="rect">
            <a:avLst/>
          </a:prstGeom>
          <a:solidFill>
            <a:srgbClr val="F4F6F8"/>
          </a:solidFill>
          <a:ln w="12700">
            <a:solidFill>
              <a:srgbClr val="F4F6F8"/>
            </a:solidFill>
            <a:prstDash val="solid"/>
          </a:ln>
        </p:spPr>
      </p:sp>
      <p:sp>
        <p:nvSpPr>
          <p:cNvPr id="18" name="Shape 16"/>
          <p:cNvSpPr/>
          <p:nvPr/>
        </p:nvSpPr>
        <p:spPr>
          <a:xfrm>
            <a:off x="822960" y="4160520"/>
            <a:ext cx="566928" cy="566928"/>
          </a:xfrm>
          <a:prstGeom prst="ellipse">
            <a:avLst/>
          </a:prstGeom>
          <a:solidFill>
            <a:srgbClr val="16A34A"/>
          </a:solidFill>
          <a:ln w="12700">
            <a:solidFill>
              <a:srgbClr val="16A34A"/>
            </a:solidFill>
            <a:prstDash val="solid"/>
          </a:ln>
        </p:spPr>
      </p:sp>
      <p:sp>
        <p:nvSpPr>
          <p:cNvPr id="19" name="Text 17"/>
          <p:cNvSpPr txBox="1"/>
          <p:nvPr/>
        </p:nvSpPr>
        <p:spPr>
          <a:xfrm>
            <a:off x="822960" y="41605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20" name="Text 18"/>
          <p:cNvSpPr txBox="1"/>
          <p:nvPr/>
        </p:nvSpPr>
        <p:spPr>
          <a:xfrm>
            <a:off x="822960" y="4800600"/>
            <a:ext cx="2971800" cy="685800"/>
          </a:xfrm>
          <a:prstGeom prst="rect">
            <a:avLst/>
          </a:prstGeom>
          <a:noFill/>
          <a:ln/>
        </p:spPr>
        <p:txBody>
          <a:bodyPr wrap="square" lIns="0" tIns="0" rIns="0" bIns="0" rtlCol="0" anchor="t"/>
          <a:lstStyle/>
          <a:p>
            <a:pPr indent="0" marL="0">
              <a:buNone/>
            </a:pPr>
            <a:r>
              <a:rPr lang="en-US" sz="1600" dirty="0">
                <a:solidFill>
                  <a:srgbClr val="1F2933"/>
                </a:solidFill>
                <a:latin typeface="Calibri" pitchFamily="34" charset="0"/>
                <a:ea typeface="Calibri" pitchFamily="34" charset="-122"/>
                <a:cs typeface="Calibri" pitchFamily="34" charset="-120"/>
              </a:rPr>
              <a:t>Show the live result in a simple Streamlit page</a:t>
            </a:r>
            <a:endParaRPr lang="en-US" sz="1600" dirty="0"/>
          </a:p>
        </p:txBody>
      </p:sp>
      <p:sp>
        <p:nvSpPr>
          <p:cNvPr id="21" name="Shape 19"/>
          <p:cNvSpPr/>
          <p:nvPr/>
        </p:nvSpPr>
        <p:spPr>
          <a:xfrm>
            <a:off x="4343400" y="3886200"/>
            <a:ext cx="3520440" cy="1737360"/>
          </a:xfrm>
          <a:prstGeom prst="rect">
            <a:avLst/>
          </a:prstGeom>
          <a:solidFill>
            <a:srgbClr val="F4F6F8"/>
          </a:solidFill>
          <a:ln w="12700">
            <a:solidFill>
              <a:srgbClr val="F4F6F8"/>
            </a:solidFill>
            <a:prstDash val="solid"/>
          </a:ln>
        </p:spPr>
      </p:sp>
      <p:sp>
        <p:nvSpPr>
          <p:cNvPr id="22" name="Shape 20"/>
          <p:cNvSpPr/>
          <p:nvPr/>
        </p:nvSpPr>
        <p:spPr>
          <a:xfrm>
            <a:off x="4617720" y="4160520"/>
            <a:ext cx="566928" cy="566928"/>
          </a:xfrm>
          <a:prstGeom prst="ellipse">
            <a:avLst/>
          </a:prstGeom>
          <a:solidFill>
            <a:srgbClr val="16A34A"/>
          </a:solidFill>
          <a:ln w="12700">
            <a:solidFill>
              <a:srgbClr val="16A34A"/>
            </a:solidFill>
            <a:prstDash val="solid"/>
          </a:ln>
        </p:spPr>
      </p:sp>
      <p:sp>
        <p:nvSpPr>
          <p:cNvPr id="23" name="Text 21"/>
          <p:cNvSpPr txBox="1"/>
          <p:nvPr/>
        </p:nvSpPr>
        <p:spPr>
          <a:xfrm>
            <a:off x="4617720" y="41605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5</a:t>
            </a:r>
            <a:endParaRPr lang="en-US" sz="2000" dirty="0"/>
          </a:p>
        </p:txBody>
      </p:sp>
      <p:sp>
        <p:nvSpPr>
          <p:cNvPr id="24" name="Text 22"/>
          <p:cNvSpPr txBox="1"/>
          <p:nvPr/>
        </p:nvSpPr>
        <p:spPr>
          <a:xfrm>
            <a:off x="4617720" y="4800600"/>
            <a:ext cx="2971800" cy="685800"/>
          </a:xfrm>
          <a:prstGeom prst="rect">
            <a:avLst/>
          </a:prstGeom>
          <a:noFill/>
          <a:ln/>
        </p:spPr>
        <p:txBody>
          <a:bodyPr wrap="square" lIns="0" tIns="0" rIns="0" bIns="0" rtlCol="0" anchor="t"/>
          <a:lstStyle/>
          <a:p>
            <a:pPr indent="0" marL="0">
              <a:buNone/>
            </a:pPr>
            <a:r>
              <a:rPr lang="en-US" sz="1600" dirty="0">
                <a:solidFill>
                  <a:srgbClr val="1F2933"/>
                </a:solidFill>
                <a:latin typeface="Calibri" pitchFamily="34" charset="0"/>
                <a:ea typeface="Calibri" pitchFamily="34" charset="-122"/>
                <a:cs typeface="Calibri" pitchFamily="34" charset="-120"/>
              </a:rPr>
              <a:t>Measure the real FPS and count objects per frame</a:t>
            </a:r>
            <a:endParaRPr lang="en-US" sz="1600" dirty="0"/>
          </a:p>
        </p:txBody>
      </p:sp>
      <p:sp>
        <p:nvSpPr>
          <p:cNvPr id="25" name="Shape 23"/>
          <p:cNvSpPr/>
          <p:nvPr/>
        </p:nvSpPr>
        <p:spPr>
          <a:xfrm>
            <a:off x="8138160" y="3886200"/>
            <a:ext cx="3520440" cy="1737360"/>
          </a:xfrm>
          <a:prstGeom prst="rect">
            <a:avLst/>
          </a:prstGeom>
          <a:solidFill>
            <a:srgbClr val="F4F6F8"/>
          </a:solidFill>
          <a:ln w="12700">
            <a:solidFill>
              <a:srgbClr val="F4F6F8"/>
            </a:solidFill>
            <a:prstDash val="solid"/>
          </a:ln>
        </p:spPr>
      </p:sp>
      <p:sp>
        <p:nvSpPr>
          <p:cNvPr id="26" name="Shape 24"/>
          <p:cNvSpPr/>
          <p:nvPr/>
        </p:nvSpPr>
        <p:spPr>
          <a:xfrm>
            <a:off x="8412480" y="4160520"/>
            <a:ext cx="566928" cy="566928"/>
          </a:xfrm>
          <a:prstGeom prst="ellipse">
            <a:avLst/>
          </a:prstGeom>
          <a:solidFill>
            <a:srgbClr val="16A34A"/>
          </a:solidFill>
          <a:ln w="12700">
            <a:solidFill>
              <a:srgbClr val="16A34A"/>
            </a:solidFill>
            <a:prstDash val="solid"/>
          </a:ln>
        </p:spPr>
      </p:sp>
      <p:sp>
        <p:nvSpPr>
          <p:cNvPr id="27" name="Text 25"/>
          <p:cNvSpPr txBox="1"/>
          <p:nvPr/>
        </p:nvSpPr>
        <p:spPr>
          <a:xfrm>
            <a:off x="8412480" y="41605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6</a:t>
            </a:r>
            <a:endParaRPr lang="en-US" sz="2000" dirty="0"/>
          </a:p>
        </p:txBody>
      </p:sp>
      <p:sp>
        <p:nvSpPr>
          <p:cNvPr id="28" name="Text 26"/>
          <p:cNvSpPr txBox="1"/>
          <p:nvPr/>
        </p:nvSpPr>
        <p:spPr>
          <a:xfrm>
            <a:off x="8412480" y="4800600"/>
            <a:ext cx="2971800" cy="685800"/>
          </a:xfrm>
          <a:prstGeom prst="rect">
            <a:avLst/>
          </a:prstGeom>
          <a:noFill/>
          <a:ln/>
        </p:spPr>
        <p:txBody>
          <a:bodyPr wrap="square" lIns="0" tIns="0" rIns="0" bIns="0" rtlCol="0" anchor="t"/>
          <a:lstStyle/>
          <a:p>
            <a:pPr indent="0" marL="0">
              <a:buNone/>
            </a:pPr>
            <a:r>
              <a:rPr lang="en-US" sz="1600" dirty="0">
                <a:solidFill>
                  <a:srgbClr val="1F2933"/>
                </a:solidFill>
                <a:latin typeface="Calibri" pitchFamily="34" charset="0"/>
                <a:ea typeface="Calibri" pitchFamily="34" charset="-122"/>
                <a:cs typeface="Calibri" pitchFamily="34" charset="-120"/>
              </a:rPr>
              <a:t>Handle errors and report test results honestly</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1472184" cy="310896"/>
          </a:xfrm>
          <a:prstGeom prst="rect">
            <a:avLst/>
          </a:prstGeom>
          <a:solidFill>
            <a:srgbClr val="16A34A"/>
          </a:solidFill>
          <a:ln w="12700">
            <a:solidFill>
              <a:srgbClr val="16A34A"/>
            </a:solidFill>
            <a:prstDash val="solid"/>
          </a:ln>
        </p:spPr>
      </p:sp>
      <p:sp>
        <p:nvSpPr>
          <p:cNvPr id="3" name="Text 1"/>
          <p:cNvSpPr txBox="1"/>
          <p:nvPr/>
        </p:nvSpPr>
        <p:spPr>
          <a:xfrm>
            <a:off x="548640" y="411480"/>
            <a:ext cx="1472184" cy="310896"/>
          </a:xfrm>
          <a:prstGeom prst="rect">
            <a:avLst/>
          </a:prstGeom>
          <a:noFill/>
          <a:ln/>
        </p:spPr>
        <p:txBody>
          <a:bodyPr wrap="none" lIns="0" tIns="0" rIns="0" bIns="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BACKGROUND</a:t>
            </a:r>
            <a:endParaRPr lang="en-US" sz="1100" dirty="0"/>
          </a:p>
        </p:txBody>
      </p:sp>
      <p:sp>
        <p:nvSpPr>
          <p:cNvPr id="4" name="Text 2"/>
          <p:cNvSpPr txBox="1"/>
          <p:nvPr/>
        </p:nvSpPr>
        <p:spPr>
          <a:xfrm>
            <a:off x="548640" y="777240"/>
            <a:ext cx="11094415" cy="777240"/>
          </a:xfrm>
          <a:prstGeom prst="rect">
            <a:avLst/>
          </a:prstGeom>
          <a:noFill/>
          <a:ln/>
        </p:spPr>
        <p:txBody>
          <a:bodyPr wrap="square" lIns="0" tIns="0" rIns="0" bIns="0" rtlCol="0" anchor="ctr"/>
          <a:lstStyle/>
          <a:p>
            <a:pPr indent="0" marL="0">
              <a:buNone/>
            </a:pPr>
            <a:r>
              <a:rPr lang="en-US" sz="3400" b="1" dirty="0">
                <a:solidFill>
                  <a:srgbClr val="1F2933"/>
                </a:solidFill>
                <a:latin typeface="Arial" pitchFamily="34" charset="0"/>
                <a:ea typeface="Arial" pitchFamily="34" charset="-122"/>
                <a:cs typeface="Arial" pitchFamily="34" charset="-120"/>
              </a:rPr>
              <a:t>What is Object Detection?</a:t>
            </a:r>
            <a:endParaRPr lang="en-US" sz="3400" dirty="0"/>
          </a:p>
        </p:txBody>
      </p:sp>
      <p:pic>
        <p:nvPicPr>
          <p:cNvPr id="5" name="Image 0" descr="/Users/SmitT/Desktop/objectdetectionusingyolo/Real-Time-Object-Detection-YOLO/outputs/sample_results/bus_detected.jpg">    </p:cNvPr>
          <p:cNvPicPr>
            <a:picLocks noChangeAspect="1"/>
          </p:cNvPicPr>
          <p:nvPr/>
        </p:nvPicPr>
        <p:blipFill>
          <a:blip r:embed="rId1"/>
          <a:stretch>
            <a:fillRect/>
          </a:stretch>
        </p:blipFill>
        <p:spPr>
          <a:xfrm>
            <a:off x="685800" y="1874520"/>
            <a:ext cx="3223260" cy="4297680"/>
          </a:xfrm>
          <a:prstGeom prst="rect">
            <a:avLst/>
          </a:prstGeom>
        </p:spPr>
      </p:pic>
      <p:sp>
        <p:nvSpPr>
          <p:cNvPr id="6" name="Shape 3"/>
          <p:cNvSpPr/>
          <p:nvPr/>
        </p:nvSpPr>
        <p:spPr>
          <a:xfrm>
            <a:off x="576072" y="1764792"/>
            <a:ext cx="292608" cy="0"/>
          </a:xfrm>
          <a:prstGeom prst="line">
            <a:avLst/>
          </a:prstGeom>
          <a:noFill/>
          <a:ln w="38100">
            <a:solidFill>
              <a:srgbClr val="16A34A"/>
            </a:solidFill>
            <a:prstDash val="solid"/>
          </a:ln>
        </p:spPr>
      </p:sp>
      <p:sp>
        <p:nvSpPr>
          <p:cNvPr id="7" name="Shape 4"/>
          <p:cNvSpPr/>
          <p:nvPr/>
        </p:nvSpPr>
        <p:spPr>
          <a:xfrm>
            <a:off x="576072" y="1764792"/>
            <a:ext cx="0" cy="292608"/>
          </a:xfrm>
          <a:prstGeom prst="line">
            <a:avLst/>
          </a:prstGeom>
          <a:noFill/>
          <a:ln w="38100">
            <a:solidFill>
              <a:srgbClr val="16A34A"/>
            </a:solidFill>
            <a:prstDash val="solid"/>
          </a:ln>
        </p:spPr>
      </p:sp>
      <p:sp>
        <p:nvSpPr>
          <p:cNvPr id="8" name="Shape 5"/>
          <p:cNvSpPr/>
          <p:nvPr/>
        </p:nvSpPr>
        <p:spPr>
          <a:xfrm>
            <a:off x="3726180" y="1764792"/>
            <a:ext cx="292608" cy="0"/>
          </a:xfrm>
          <a:prstGeom prst="line">
            <a:avLst/>
          </a:prstGeom>
          <a:noFill/>
          <a:ln w="38100">
            <a:solidFill>
              <a:srgbClr val="16A34A"/>
            </a:solidFill>
            <a:prstDash val="solid"/>
          </a:ln>
        </p:spPr>
      </p:sp>
      <p:sp>
        <p:nvSpPr>
          <p:cNvPr id="9" name="Shape 6"/>
          <p:cNvSpPr/>
          <p:nvPr/>
        </p:nvSpPr>
        <p:spPr>
          <a:xfrm>
            <a:off x="4018788" y="1764792"/>
            <a:ext cx="0" cy="292608"/>
          </a:xfrm>
          <a:prstGeom prst="line">
            <a:avLst/>
          </a:prstGeom>
          <a:noFill/>
          <a:ln w="38100">
            <a:solidFill>
              <a:srgbClr val="16A34A"/>
            </a:solidFill>
            <a:prstDash val="solid"/>
          </a:ln>
        </p:spPr>
      </p:sp>
      <p:sp>
        <p:nvSpPr>
          <p:cNvPr id="10" name="Shape 7"/>
          <p:cNvSpPr/>
          <p:nvPr/>
        </p:nvSpPr>
        <p:spPr>
          <a:xfrm>
            <a:off x="576072" y="6281928"/>
            <a:ext cx="292608" cy="0"/>
          </a:xfrm>
          <a:prstGeom prst="line">
            <a:avLst/>
          </a:prstGeom>
          <a:noFill/>
          <a:ln w="38100">
            <a:solidFill>
              <a:srgbClr val="16A34A"/>
            </a:solidFill>
            <a:prstDash val="solid"/>
          </a:ln>
        </p:spPr>
      </p:sp>
      <p:sp>
        <p:nvSpPr>
          <p:cNvPr id="11" name="Shape 8"/>
          <p:cNvSpPr/>
          <p:nvPr/>
        </p:nvSpPr>
        <p:spPr>
          <a:xfrm>
            <a:off x="576072" y="5989320"/>
            <a:ext cx="0" cy="292608"/>
          </a:xfrm>
          <a:prstGeom prst="line">
            <a:avLst/>
          </a:prstGeom>
          <a:noFill/>
          <a:ln w="38100">
            <a:solidFill>
              <a:srgbClr val="16A34A"/>
            </a:solidFill>
            <a:prstDash val="solid"/>
          </a:ln>
        </p:spPr>
      </p:sp>
      <p:sp>
        <p:nvSpPr>
          <p:cNvPr id="12" name="Shape 9"/>
          <p:cNvSpPr/>
          <p:nvPr/>
        </p:nvSpPr>
        <p:spPr>
          <a:xfrm>
            <a:off x="3726180" y="6281928"/>
            <a:ext cx="292608" cy="0"/>
          </a:xfrm>
          <a:prstGeom prst="line">
            <a:avLst/>
          </a:prstGeom>
          <a:noFill/>
          <a:ln w="38100">
            <a:solidFill>
              <a:srgbClr val="16A34A"/>
            </a:solidFill>
            <a:prstDash val="solid"/>
          </a:ln>
        </p:spPr>
      </p:sp>
      <p:sp>
        <p:nvSpPr>
          <p:cNvPr id="13" name="Shape 10"/>
          <p:cNvSpPr/>
          <p:nvPr/>
        </p:nvSpPr>
        <p:spPr>
          <a:xfrm>
            <a:off x="4018788" y="5989320"/>
            <a:ext cx="0" cy="292608"/>
          </a:xfrm>
          <a:prstGeom prst="line">
            <a:avLst/>
          </a:prstGeom>
          <a:noFill/>
          <a:ln w="38100">
            <a:solidFill>
              <a:srgbClr val="16A34A"/>
            </a:solidFill>
            <a:prstDash val="solid"/>
          </a:ln>
        </p:spPr>
      </p:sp>
      <p:sp>
        <p:nvSpPr>
          <p:cNvPr id="14" name="Text 11"/>
          <p:cNvSpPr txBox="1"/>
          <p:nvPr/>
        </p:nvSpPr>
        <p:spPr>
          <a:xfrm>
            <a:off x="5394960" y="1828800"/>
            <a:ext cx="6217920" cy="822960"/>
          </a:xfrm>
          <a:prstGeom prst="rect">
            <a:avLst/>
          </a:prstGeom>
          <a:noFill/>
          <a:ln/>
        </p:spPr>
        <p:txBody>
          <a:bodyPr wrap="square" lIns="0" tIns="0" rIns="0" bIns="0" rtlCol="0" anchor="ctr"/>
          <a:lstStyle/>
          <a:p>
            <a:pPr indent="0" marL="0">
              <a:buNone/>
            </a:pPr>
            <a:r>
              <a:rPr lang="en-US" sz="2000" b="1" dirty="0">
                <a:solidFill>
                  <a:srgbClr val="1F2933"/>
                </a:solidFill>
                <a:latin typeface="Arial" pitchFamily="34" charset="0"/>
                <a:ea typeface="Arial" pitchFamily="34" charset="-122"/>
                <a:cs typeface="Arial" pitchFamily="34" charset="-120"/>
              </a:rPr>
              <a:t>Object detection answers two questions: what objects are in the image, and where are they?</a:t>
            </a:r>
            <a:endParaRPr lang="en-US" sz="2000" dirty="0"/>
          </a:p>
        </p:txBody>
      </p:sp>
      <p:sp>
        <p:nvSpPr>
          <p:cNvPr id="15" name="Shape 12"/>
          <p:cNvSpPr/>
          <p:nvPr/>
        </p:nvSpPr>
        <p:spPr>
          <a:xfrm>
            <a:off x="5394960" y="3054096"/>
            <a:ext cx="201168" cy="201168"/>
          </a:xfrm>
          <a:prstGeom prst="rect">
            <a:avLst/>
          </a:prstGeom>
          <a:solidFill>
            <a:srgbClr val="16A34A"/>
          </a:solidFill>
          <a:ln w="12700">
            <a:solidFill>
              <a:srgbClr val="16A34A"/>
            </a:solidFill>
            <a:prstDash val="solid"/>
          </a:ln>
        </p:spPr>
      </p:sp>
      <p:sp>
        <p:nvSpPr>
          <p:cNvPr id="16" name="Text 13"/>
          <p:cNvSpPr txBox="1"/>
          <p:nvPr/>
        </p:nvSpPr>
        <p:spPr>
          <a:xfrm>
            <a:off x="5715000" y="2880360"/>
            <a:ext cx="5852160" cy="548640"/>
          </a:xfrm>
          <a:prstGeom prst="rect">
            <a:avLst/>
          </a:prstGeom>
          <a:noFill/>
          <a:ln/>
        </p:spPr>
        <p:txBody>
          <a:bodyPr wrap="square" lIns="0" tIns="0" rIns="0" bIns="0" rtlCol="0" anchor="ctr"/>
          <a:lstStyle/>
          <a:p>
            <a:pPr indent="0" marL="0">
              <a:buNone/>
            </a:pPr>
            <a:r>
              <a:rPr lang="en-US" sz="1700" b="1" dirty="0">
                <a:solidFill>
                  <a:srgbClr val="1F2933"/>
                </a:solidFill>
                <a:latin typeface="Calibri" pitchFamily="34" charset="0"/>
                <a:ea typeface="Calibri" pitchFamily="34" charset="-122"/>
                <a:cs typeface="Calibri" pitchFamily="34" charset="-120"/>
              </a:rPr>
              <a:t>Bounding box: </a:t>
            </a:r>
            <a:pPr indent="0" marL="0">
              <a:buNone/>
            </a:pPr>
            <a:r>
              <a:rPr lang="en-US" sz="1700" dirty="0">
                <a:solidFill>
                  <a:srgbClr val="5B6675"/>
                </a:solidFill>
                <a:latin typeface="Calibri" pitchFamily="34" charset="0"/>
                <a:ea typeface="Calibri" pitchFamily="34" charset="-122"/>
                <a:cs typeface="Calibri" pitchFamily="34" charset="-120"/>
              </a:rPr>
              <a:t>a rectangle (x1, y1, x2, y2) around each object</a:t>
            </a:r>
            <a:endParaRPr lang="en-US" sz="1700" dirty="0"/>
          </a:p>
        </p:txBody>
      </p:sp>
      <p:sp>
        <p:nvSpPr>
          <p:cNvPr id="17" name="Shape 14"/>
          <p:cNvSpPr/>
          <p:nvPr/>
        </p:nvSpPr>
        <p:spPr>
          <a:xfrm>
            <a:off x="5394960" y="3831336"/>
            <a:ext cx="201168" cy="201168"/>
          </a:xfrm>
          <a:prstGeom prst="rect">
            <a:avLst/>
          </a:prstGeom>
          <a:solidFill>
            <a:srgbClr val="16A34A"/>
          </a:solidFill>
          <a:ln w="12700">
            <a:solidFill>
              <a:srgbClr val="16A34A"/>
            </a:solidFill>
            <a:prstDash val="solid"/>
          </a:ln>
        </p:spPr>
      </p:sp>
      <p:sp>
        <p:nvSpPr>
          <p:cNvPr id="18" name="Text 15"/>
          <p:cNvSpPr txBox="1"/>
          <p:nvPr/>
        </p:nvSpPr>
        <p:spPr>
          <a:xfrm>
            <a:off x="5715000" y="3657600"/>
            <a:ext cx="5852160" cy="548640"/>
          </a:xfrm>
          <a:prstGeom prst="rect">
            <a:avLst/>
          </a:prstGeom>
          <a:noFill/>
          <a:ln/>
        </p:spPr>
        <p:txBody>
          <a:bodyPr wrap="square" lIns="0" tIns="0" rIns="0" bIns="0" rtlCol="0" anchor="ctr"/>
          <a:lstStyle/>
          <a:p>
            <a:pPr indent="0" marL="0">
              <a:buNone/>
            </a:pPr>
            <a:r>
              <a:rPr lang="en-US" sz="1700" b="1" dirty="0">
                <a:solidFill>
                  <a:srgbClr val="1F2933"/>
                </a:solidFill>
                <a:latin typeface="Calibri" pitchFamily="34" charset="0"/>
                <a:ea typeface="Calibri" pitchFamily="34" charset="-122"/>
                <a:cs typeface="Calibri" pitchFamily="34" charset="-120"/>
              </a:rPr>
              <a:t>Class label: </a:t>
            </a:r>
            <a:pPr indent="0" marL="0">
              <a:buNone/>
            </a:pPr>
            <a:r>
              <a:rPr lang="en-US" sz="1700" dirty="0">
                <a:solidFill>
                  <a:srgbClr val="5B6675"/>
                </a:solidFill>
                <a:latin typeface="Calibri" pitchFamily="34" charset="0"/>
                <a:ea typeface="Calibri" pitchFamily="34" charset="-122"/>
                <a:cs typeface="Calibri" pitchFamily="34" charset="-120"/>
              </a:rPr>
              <a:t>the object's name, e.g. “bus” or “person”</a:t>
            </a:r>
            <a:endParaRPr lang="en-US" sz="1700" dirty="0"/>
          </a:p>
        </p:txBody>
      </p:sp>
      <p:sp>
        <p:nvSpPr>
          <p:cNvPr id="19" name="Shape 16"/>
          <p:cNvSpPr/>
          <p:nvPr/>
        </p:nvSpPr>
        <p:spPr>
          <a:xfrm>
            <a:off x="5394960" y="4608576"/>
            <a:ext cx="201168" cy="201168"/>
          </a:xfrm>
          <a:prstGeom prst="rect">
            <a:avLst/>
          </a:prstGeom>
          <a:solidFill>
            <a:srgbClr val="16A34A"/>
          </a:solidFill>
          <a:ln w="12700">
            <a:solidFill>
              <a:srgbClr val="16A34A"/>
            </a:solidFill>
            <a:prstDash val="solid"/>
          </a:ln>
        </p:spPr>
      </p:sp>
      <p:sp>
        <p:nvSpPr>
          <p:cNvPr id="20" name="Text 17"/>
          <p:cNvSpPr txBox="1"/>
          <p:nvPr/>
        </p:nvSpPr>
        <p:spPr>
          <a:xfrm>
            <a:off x="5715000" y="4434840"/>
            <a:ext cx="5852160" cy="548640"/>
          </a:xfrm>
          <a:prstGeom prst="rect">
            <a:avLst/>
          </a:prstGeom>
          <a:noFill/>
          <a:ln/>
        </p:spPr>
        <p:txBody>
          <a:bodyPr wrap="square" lIns="0" tIns="0" rIns="0" bIns="0" rtlCol="0" anchor="ctr"/>
          <a:lstStyle/>
          <a:p>
            <a:pPr indent="0" marL="0">
              <a:buNone/>
            </a:pPr>
            <a:r>
              <a:rPr lang="en-US" sz="1700" b="1" dirty="0">
                <a:solidFill>
                  <a:srgbClr val="1F2933"/>
                </a:solidFill>
                <a:latin typeface="Calibri" pitchFamily="34" charset="0"/>
                <a:ea typeface="Calibri" pitchFamily="34" charset="-122"/>
                <a:cs typeface="Calibri" pitchFamily="34" charset="-120"/>
              </a:rPr>
              <a:t>Confidence score: </a:t>
            </a:r>
            <a:pPr indent="0" marL="0">
              <a:buNone/>
            </a:pPr>
            <a:r>
              <a:rPr lang="en-US" sz="1700" dirty="0">
                <a:solidFill>
                  <a:srgbClr val="5B6675"/>
                </a:solidFill>
                <a:latin typeface="Calibri" pitchFamily="34" charset="0"/>
                <a:ea typeface="Calibri" pitchFamily="34" charset="-122"/>
                <a:cs typeface="Calibri" pitchFamily="34" charset="-120"/>
              </a:rPr>
              <a:t>how sure the model is, from 0 to 1</a:t>
            </a:r>
            <a:endParaRPr lang="en-US" sz="1700" dirty="0"/>
          </a:p>
        </p:txBody>
      </p:sp>
      <p:sp>
        <p:nvSpPr>
          <p:cNvPr id="21" name="Text 18"/>
          <p:cNvSpPr txBox="1"/>
          <p:nvPr/>
        </p:nvSpPr>
        <p:spPr>
          <a:xfrm>
            <a:off x="5394960" y="5349240"/>
            <a:ext cx="6217920" cy="548640"/>
          </a:xfrm>
          <a:prstGeom prst="rect">
            <a:avLst/>
          </a:prstGeom>
          <a:noFill/>
          <a:ln/>
        </p:spPr>
        <p:txBody>
          <a:bodyPr wrap="square" lIns="0" tIns="0" rIns="0" bIns="0" rtlCol="0" anchor="ctr"/>
          <a:lstStyle/>
          <a:p>
            <a:pPr indent="0" marL="0">
              <a:buNone/>
            </a:pPr>
            <a:r>
              <a:rPr lang="en-US" sz="1400" b="1" dirty="0">
                <a:solidFill>
                  <a:srgbClr val="5B6675"/>
                </a:solidFill>
                <a:latin typeface="Calibri" pitchFamily="34" charset="0"/>
                <a:ea typeface="Calibri" pitchFamily="34" charset="-122"/>
                <a:cs typeface="Calibri" pitchFamily="34" charset="-120"/>
              </a:rPr>
              <a:t>Classification</a:t>
            </a:r>
            <a:pPr indent="0" marL="0">
              <a:buNone/>
            </a:pPr>
            <a:r>
              <a:rPr lang="en-US" sz="1400" dirty="0">
                <a:solidFill>
                  <a:srgbClr val="5B6675"/>
                </a:solidFill>
                <a:latin typeface="Calibri" pitchFamily="34" charset="0"/>
                <a:ea typeface="Calibri" pitchFamily="34" charset="-122"/>
                <a:cs typeface="Calibri" pitchFamily="34" charset="-120"/>
              </a:rPr>
              <a:t> = one label per image   ·   </a:t>
            </a:r>
            <a:pPr indent="0" marL="0">
              <a:buNone/>
            </a:pPr>
            <a:r>
              <a:rPr lang="en-US" sz="1400" b="1" dirty="0">
                <a:solidFill>
                  <a:srgbClr val="15803D"/>
                </a:solidFill>
                <a:latin typeface="Calibri" pitchFamily="34" charset="0"/>
                <a:ea typeface="Calibri" pitchFamily="34" charset="-122"/>
                <a:cs typeface="Calibri" pitchFamily="34" charset="-120"/>
              </a:rPr>
              <a:t>Detection</a:t>
            </a:r>
            <a:pPr indent="0" marL="0">
              <a:buNone/>
            </a:pPr>
            <a:r>
              <a:rPr lang="en-US" sz="1400" dirty="0">
                <a:solidFill>
                  <a:srgbClr val="5B6675"/>
                </a:solidFill>
                <a:latin typeface="Calibri" pitchFamily="34" charset="0"/>
                <a:ea typeface="Calibri" pitchFamily="34" charset="-122"/>
                <a:cs typeface="Calibri" pitchFamily="34" charset="-120"/>
              </a:rPr>
              <a:t> = box per object   ·   </a:t>
            </a:r>
            <a:pPr indent="0" marL="0">
              <a:buNone/>
            </a:pPr>
            <a:r>
              <a:rPr lang="en-US" sz="1400" b="1" dirty="0">
                <a:solidFill>
                  <a:srgbClr val="5B6675"/>
                </a:solidFill>
                <a:latin typeface="Calibri" pitchFamily="34" charset="0"/>
                <a:ea typeface="Calibri" pitchFamily="34" charset="-122"/>
                <a:cs typeface="Calibri" pitchFamily="34" charset="-120"/>
              </a:rPr>
              <a:t>Segmentation</a:t>
            </a:r>
            <a:pPr indent="0" marL="0">
              <a:buNone/>
            </a:pPr>
            <a:r>
              <a:rPr lang="en-US" sz="1400" dirty="0">
                <a:solidFill>
                  <a:srgbClr val="5B6675"/>
                </a:solidFill>
                <a:latin typeface="Calibri" pitchFamily="34" charset="0"/>
                <a:ea typeface="Calibri" pitchFamily="34" charset="-122"/>
                <a:cs typeface="Calibri" pitchFamily="34" charset="-120"/>
              </a:rPr>
              <a:t> = label per pixel</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900684" cy="310896"/>
          </a:xfrm>
          <a:prstGeom prst="rect">
            <a:avLst/>
          </a:prstGeom>
          <a:solidFill>
            <a:srgbClr val="16A34A"/>
          </a:solidFill>
          <a:ln w="12700">
            <a:solidFill>
              <a:srgbClr val="16A34A"/>
            </a:solidFill>
            <a:prstDash val="solid"/>
          </a:ln>
        </p:spPr>
      </p:sp>
      <p:sp>
        <p:nvSpPr>
          <p:cNvPr id="3" name="Text 1"/>
          <p:cNvSpPr txBox="1"/>
          <p:nvPr/>
        </p:nvSpPr>
        <p:spPr>
          <a:xfrm>
            <a:off x="548640" y="411480"/>
            <a:ext cx="900684" cy="310896"/>
          </a:xfrm>
          <a:prstGeom prst="rect">
            <a:avLst/>
          </a:prstGeom>
          <a:noFill/>
          <a:ln/>
        </p:spPr>
        <p:txBody>
          <a:bodyPr wrap="none" lIns="0" tIns="0" rIns="0" bIns="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MODEL</a:t>
            </a:r>
            <a:endParaRPr lang="en-US" sz="1100" dirty="0"/>
          </a:p>
        </p:txBody>
      </p:sp>
      <p:sp>
        <p:nvSpPr>
          <p:cNvPr id="4" name="Text 2"/>
          <p:cNvSpPr txBox="1"/>
          <p:nvPr/>
        </p:nvSpPr>
        <p:spPr>
          <a:xfrm>
            <a:off x="548640" y="777240"/>
            <a:ext cx="11094415" cy="777240"/>
          </a:xfrm>
          <a:prstGeom prst="rect">
            <a:avLst/>
          </a:prstGeom>
          <a:noFill/>
          <a:ln/>
        </p:spPr>
        <p:txBody>
          <a:bodyPr wrap="square" lIns="0" tIns="0" rIns="0" bIns="0" rtlCol="0" anchor="ctr"/>
          <a:lstStyle/>
          <a:p>
            <a:pPr indent="0" marL="0">
              <a:buNone/>
            </a:pPr>
            <a:r>
              <a:rPr lang="en-US" sz="3400" b="1" dirty="0">
                <a:solidFill>
                  <a:srgbClr val="1F2933"/>
                </a:solidFill>
                <a:latin typeface="Arial" pitchFamily="34" charset="0"/>
                <a:ea typeface="Arial" pitchFamily="34" charset="-122"/>
                <a:cs typeface="Arial" pitchFamily="34" charset="-120"/>
              </a:rPr>
              <a:t>YOLO: You Only Look Once</a:t>
            </a:r>
            <a:endParaRPr lang="en-US" sz="3400" dirty="0"/>
          </a:p>
        </p:txBody>
      </p:sp>
      <p:sp>
        <p:nvSpPr>
          <p:cNvPr id="5" name="Text 3"/>
          <p:cNvSpPr txBox="1"/>
          <p:nvPr/>
        </p:nvSpPr>
        <p:spPr>
          <a:xfrm>
            <a:off x="548640" y="1828800"/>
            <a:ext cx="5120640" cy="365760"/>
          </a:xfrm>
          <a:prstGeom prst="rect">
            <a:avLst/>
          </a:prstGeom>
          <a:noFill/>
          <a:ln/>
        </p:spPr>
        <p:txBody>
          <a:bodyPr wrap="square" lIns="0" tIns="0" rIns="0" bIns="0" rtlCol="0" anchor="ctr"/>
          <a:lstStyle/>
          <a:p>
            <a:pPr indent="0" marL="0">
              <a:buNone/>
            </a:pPr>
            <a:r>
              <a:rPr lang="en-US" sz="1800" b="1" dirty="0">
                <a:solidFill>
                  <a:srgbClr val="15803D"/>
                </a:solidFill>
                <a:latin typeface="Arial" pitchFamily="34" charset="0"/>
                <a:ea typeface="Arial" pitchFamily="34" charset="-122"/>
                <a:cs typeface="Arial" pitchFamily="34" charset="-120"/>
              </a:rPr>
              <a:t>One pass</a:t>
            </a:r>
            <a:endParaRPr lang="en-US" sz="1800" dirty="0"/>
          </a:p>
        </p:txBody>
      </p:sp>
      <p:sp>
        <p:nvSpPr>
          <p:cNvPr id="6" name="Text 4"/>
          <p:cNvSpPr txBox="1"/>
          <p:nvPr/>
        </p:nvSpPr>
        <p:spPr>
          <a:xfrm>
            <a:off x="548640" y="2194560"/>
            <a:ext cx="5120640" cy="502920"/>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One CNN looks at the whole image once and predicts all boxes together</a:t>
            </a:r>
            <a:endParaRPr lang="en-US" sz="1500" dirty="0"/>
          </a:p>
        </p:txBody>
      </p:sp>
      <p:sp>
        <p:nvSpPr>
          <p:cNvPr id="7" name="Text 5"/>
          <p:cNvSpPr txBox="1"/>
          <p:nvPr/>
        </p:nvSpPr>
        <p:spPr>
          <a:xfrm>
            <a:off x="548640" y="2761488"/>
            <a:ext cx="5120640" cy="365760"/>
          </a:xfrm>
          <a:prstGeom prst="rect">
            <a:avLst/>
          </a:prstGeom>
          <a:noFill/>
          <a:ln/>
        </p:spPr>
        <p:txBody>
          <a:bodyPr wrap="square" lIns="0" tIns="0" rIns="0" bIns="0" rtlCol="0" anchor="ctr"/>
          <a:lstStyle/>
          <a:p>
            <a:pPr indent="0" marL="0">
              <a:buNone/>
            </a:pPr>
            <a:r>
              <a:rPr lang="en-US" sz="1800" b="1" dirty="0">
                <a:solidFill>
                  <a:srgbClr val="15803D"/>
                </a:solidFill>
                <a:latin typeface="Arial" pitchFamily="34" charset="0"/>
                <a:ea typeface="Arial" pitchFamily="34" charset="-122"/>
                <a:cs typeface="Arial" pitchFamily="34" charset="-120"/>
              </a:rPr>
              <a:t>Grid idea</a:t>
            </a:r>
            <a:endParaRPr lang="en-US" sz="1800" dirty="0"/>
          </a:p>
        </p:txBody>
      </p:sp>
      <p:sp>
        <p:nvSpPr>
          <p:cNvPr id="8" name="Text 6"/>
          <p:cNvSpPr txBox="1"/>
          <p:nvPr/>
        </p:nvSpPr>
        <p:spPr>
          <a:xfrm>
            <a:off x="548640" y="3127248"/>
            <a:ext cx="5120640" cy="502920"/>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The cell containing an object's centre predicts its box, class and confidence</a:t>
            </a:r>
            <a:endParaRPr lang="en-US" sz="1500" dirty="0"/>
          </a:p>
        </p:txBody>
      </p:sp>
      <p:sp>
        <p:nvSpPr>
          <p:cNvPr id="9" name="Text 7"/>
          <p:cNvSpPr txBox="1"/>
          <p:nvPr/>
        </p:nvSpPr>
        <p:spPr>
          <a:xfrm>
            <a:off x="548640" y="3694176"/>
            <a:ext cx="5120640" cy="365760"/>
          </a:xfrm>
          <a:prstGeom prst="rect">
            <a:avLst/>
          </a:prstGeom>
          <a:noFill/>
          <a:ln/>
        </p:spPr>
        <p:txBody>
          <a:bodyPr wrap="square" lIns="0" tIns="0" rIns="0" bIns="0" rtlCol="0" anchor="ctr"/>
          <a:lstStyle/>
          <a:p>
            <a:pPr indent="0" marL="0">
              <a:buNone/>
            </a:pPr>
            <a:r>
              <a:rPr lang="en-US" sz="1800" b="1" dirty="0">
                <a:solidFill>
                  <a:srgbClr val="15803D"/>
                </a:solidFill>
                <a:latin typeface="Arial" pitchFamily="34" charset="0"/>
                <a:ea typeface="Arial" pitchFamily="34" charset="-122"/>
                <a:cs typeface="Arial" pitchFamily="34" charset="-120"/>
              </a:rPr>
              <a:t>Clean-up</a:t>
            </a:r>
            <a:endParaRPr lang="en-US" sz="1800" dirty="0"/>
          </a:p>
        </p:txBody>
      </p:sp>
      <p:sp>
        <p:nvSpPr>
          <p:cNvPr id="10" name="Text 8"/>
          <p:cNvSpPr txBox="1"/>
          <p:nvPr/>
        </p:nvSpPr>
        <p:spPr>
          <a:xfrm>
            <a:off x="548640" y="4059936"/>
            <a:ext cx="5120640" cy="502920"/>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Non-Maximum Suppression removes duplicate boxes (IoU &gt; 0.7)</a:t>
            </a:r>
            <a:endParaRPr lang="en-US" sz="1500" dirty="0"/>
          </a:p>
        </p:txBody>
      </p:sp>
      <p:sp>
        <p:nvSpPr>
          <p:cNvPr id="11" name="Text 9"/>
          <p:cNvSpPr txBox="1"/>
          <p:nvPr/>
        </p:nvSpPr>
        <p:spPr>
          <a:xfrm>
            <a:off x="548640" y="4626864"/>
            <a:ext cx="5120640" cy="365760"/>
          </a:xfrm>
          <a:prstGeom prst="rect">
            <a:avLst/>
          </a:prstGeom>
          <a:noFill/>
          <a:ln/>
        </p:spPr>
        <p:txBody>
          <a:bodyPr wrap="square" lIns="0" tIns="0" rIns="0" bIns="0" rtlCol="0" anchor="ctr"/>
          <a:lstStyle/>
          <a:p>
            <a:pPr indent="0" marL="0">
              <a:buNone/>
            </a:pPr>
            <a:r>
              <a:rPr lang="en-US" sz="1800" b="1" dirty="0">
                <a:solidFill>
                  <a:srgbClr val="15803D"/>
                </a:solidFill>
                <a:latin typeface="Arial" pitchFamily="34" charset="0"/>
                <a:ea typeface="Arial" pitchFamily="34" charset="-122"/>
                <a:cs typeface="Arial" pitchFamily="34" charset="-120"/>
              </a:rPr>
              <a:t>Pretrained</a:t>
            </a:r>
            <a:endParaRPr lang="en-US" sz="1800" dirty="0"/>
          </a:p>
        </p:txBody>
      </p:sp>
      <p:sp>
        <p:nvSpPr>
          <p:cNvPr id="12" name="Text 10"/>
          <p:cNvSpPr txBox="1"/>
          <p:nvPr/>
        </p:nvSpPr>
        <p:spPr>
          <a:xfrm>
            <a:off x="548640" y="4992624"/>
            <a:ext cx="5120640" cy="502920"/>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Ultralytics trained YOLO11n on COCO. We did not train it.</a:t>
            </a:r>
            <a:endParaRPr lang="en-US" sz="1500" dirty="0"/>
          </a:p>
        </p:txBody>
      </p:sp>
      <p:pic>
        <p:nvPicPr>
          <p:cNvPr id="13" name="Image 0" descr="/private/tmp/claude-501/-Users-SmitT-Desktop-objectdetectionusingyolo/bc03f115-f2f7-4a20-89fc-312d213eecd2/scratchpad/figs/yolo_grid_idea.png">    </p:cNvPr>
          <p:cNvPicPr>
            <a:picLocks noChangeAspect="1"/>
          </p:cNvPicPr>
          <p:nvPr/>
        </p:nvPicPr>
        <p:blipFill>
          <a:blip r:embed="rId1"/>
          <a:stretch>
            <a:fillRect/>
          </a:stretch>
        </p:blipFill>
        <p:spPr>
          <a:xfrm>
            <a:off x="6286933" y="1783080"/>
            <a:ext cx="5356122" cy="3703320"/>
          </a:xfrm>
          <a:prstGeom prst="rect">
            <a:avLst/>
          </a:prstGeom>
        </p:spPr>
      </p:pic>
      <p:sp>
        <p:nvSpPr>
          <p:cNvPr id="14" name="Shape 11"/>
          <p:cNvSpPr/>
          <p:nvPr/>
        </p:nvSpPr>
        <p:spPr>
          <a:xfrm>
            <a:off x="548640" y="5806440"/>
            <a:ext cx="11094415" cy="566928"/>
          </a:xfrm>
          <a:prstGeom prst="rect">
            <a:avLst/>
          </a:prstGeom>
          <a:solidFill>
            <a:srgbClr val="EAF7EE"/>
          </a:solidFill>
          <a:ln w="12700">
            <a:solidFill>
              <a:srgbClr val="EAF7EE"/>
            </a:solidFill>
            <a:prstDash val="solid"/>
          </a:ln>
        </p:spPr>
      </p:sp>
      <p:sp>
        <p:nvSpPr>
          <p:cNvPr id="15" name="Text 12"/>
          <p:cNvSpPr txBox="1"/>
          <p:nvPr/>
        </p:nvSpPr>
        <p:spPr>
          <a:xfrm>
            <a:off x="731520" y="5806440"/>
            <a:ext cx="10728655" cy="566928"/>
          </a:xfrm>
          <a:prstGeom prst="rect">
            <a:avLst/>
          </a:prstGeom>
          <a:noFill/>
          <a:ln/>
        </p:spPr>
        <p:txBody>
          <a:bodyPr wrap="square" lIns="0" tIns="0" rIns="0" bIns="0" rtlCol="0" anchor="ctr"/>
          <a:lstStyle/>
          <a:p>
            <a:pPr indent="0" marL="0">
              <a:buNone/>
            </a:pPr>
            <a:r>
              <a:rPr lang="en-US" sz="1500" b="1" dirty="0">
                <a:solidFill>
                  <a:srgbClr val="15803D"/>
                </a:solidFill>
                <a:latin typeface="Calibri" pitchFamily="34" charset="0"/>
                <a:ea typeface="Calibri" pitchFamily="34" charset="-122"/>
                <a:cs typeface="Calibri" pitchFamily="34" charset="-120"/>
              </a:rPr>
              <a:t>YOLO11n</a:t>
            </a:r>
            <a:pPr indent="0" marL="0">
              <a:buNone/>
            </a:pPr>
            <a:r>
              <a:rPr lang="en-US" sz="1500" dirty="0">
                <a:solidFill>
                  <a:srgbClr val="1F2933"/>
                </a:solidFill>
                <a:latin typeface="Calibri" pitchFamily="34" charset="0"/>
                <a:ea typeface="Calibri" pitchFamily="34" charset="-122"/>
                <a:cs typeface="Calibri" pitchFamily="34" charset="-120"/>
              </a:rPr>
              <a:t>   ·   2.6 M parameters   ·   5.4 MB weights   ·   80 COCO classes   ·   39.5 mAP50-95 (reported by Ultralytics)</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1700784" cy="310896"/>
          </a:xfrm>
          <a:prstGeom prst="rect">
            <a:avLst/>
          </a:prstGeom>
          <a:solidFill>
            <a:srgbClr val="16A34A"/>
          </a:solidFill>
          <a:ln w="12700">
            <a:solidFill>
              <a:srgbClr val="16A34A"/>
            </a:solidFill>
            <a:prstDash val="solid"/>
          </a:ln>
        </p:spPr>
      </p:sp>
      <p:sp>
        <p:nvSpPr>
          <p:cNvPr id="3" name="Text 1"/>
          <p:cNvSpPr txBox="1"/>
          <p:nvPr/>
        </p:nvSpPr>
        <p:spPr>
          <a:xfrm>
            <a:off x="548640" y="411480"/>
            <a:ext cx="1700784" cy="310896"/>
          </a:xfrm>
          <a:prstGeom prst="rect">
            <a:avLst/>
          </a:prstGeom>
          <a:noFill/>
          <a:ln/>
        </p:spPr>
        <p:txBody>
          <a:bodyPr wrap="none" lIns="0" tIns="0" rIns="0" bIns="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ARCHITECTURE</a:t>
            </a:r>
            <a:endParaRPr lang="en-US" sz="1100" dirty="0"/>
          </a:p>
        </p:txBody>
      </p:sp>
      <p:sp>
        <p:nvSpPr>
          <p:cNvPr id="4" name="Text 2"/>
          <p:cNvSpPr txBox="1"/>
          <p:nvPr/>
        </p:nvSpPr>
        <p:spPr>
          <a:xfrm>
            <a:off x="548640" y="777240"/>
            <a:ext cx="11094415" cy="777240"/>
          </a:xfrm>
          <a:prstGeom prst="rect">
            <a:avLst/>
          </a:prstGeom>
          <a:noFill/>
          <a:ln/>
        </p:spPr>
        <p:txBody>
          <a:bodyPr wrap="square" lIns="0" tIns="0" rIns="0" bIns="0" rtlCol="0" anchor="ctr"/>
          <a:lstStyle/>
          <a:p>
            <a:pPr indent="0" marL="0">
              <a:buNone/>
            </a:pPr>
            <a:r>
              <a:rPr lang="en-US" sz="3400" b="1" dirty="0">
                <a:solidFill>
                  <a:srgbClr val="1F2933"/>
                </a:solidFill>
                <a:latin typeface="Arial" pitchFamily="34" charset="0"/>
                <a:ea typeface="Arial" pitchFamily="34" charset="-122"/>
                <a:cs typeface="Arial" pitchFamily="34" charset="-120"/>
              </a:rPr>
              <a:t>System Architecture</a:t>
            </a:r>
            <a:endParaRPr lang="en-US" sz="3400" dirty="0"/>
          </a:p>
        </p:txBody>
      </p:sp>
      <p:sp>
        <p:nvSpPr>
          <p:cNvPr id="5" name="Shape 3"/>
          <p:cNvSpPr/>
          <p:nvPr/>
        </p:nvSpPr>
        <p:spPr>
          <a:xfrm>
            <a:off x="531724" y="2148840"/>
            <a:ext cx="1417320" cy="1234440"/>
          </a:xfrm>
          <a:prstGeom prst="rect">
            <a:avLst/>
          </a:prstGeom>
          <a:solidFill>
            <a:srgbClr val="F4F6F8"/>
          </a:solidFill>
          <a:ln w="19050">
            <a:solidFill>
              <a:srgbClr val="C9D1D9"/>
            </a:solidFill>
            <a:prstDash val="solid"/>
          </a:ln>
        </p:spPr>
      </p:sp>
      <p:sp>
        <p:nvSpPr>
          <p:cNvPr id="6" name="Text 4"/>
          <p:cNvSpPr txBox="1"/>
          <p:nvPr/>
        </p:nvSpPr>
        <p:spPr>
          <a:xfrm>
            <a:off x="604876" y="2148840"/>
            <a:ext cx="1271016" cy="1234440"/>
          </a:xfrm>
          <a:prstGeom prst="rect">
            <a:avLst/>
          </a:prstGeom>
          <a:noFill/>
          <a:ln/>
        </p:spPr>
        <p:txBody>
          <a:bodyPr wrap="square" lIns="0" tIns="0" rIns="0" bIns="0" rtlCol="0" anchor="ctr"/>
          <a:lstStyle/>
          <a:p>
            <a:pPr algn="ctr" indent="0" marL="0">
              <a:buNone/>
            </a:pPr>
            <a:r>
              <a:rPr lang="en-US" sz="1350" b="1" dirty="0">
                <a:solidFill>
                  <a:srgbClr val="1F2933"/>
                </a:solidFill>
                <a:latin typeface="Arial" pitchFamily="34" charset="0"/>
                <a:ea typeface="Arial" pitchFamily="34" charset="-122"/>
                <a:cs typeface="Arial" pitchFamily="34" charset="-120"/>
              </a:rPr>
              <a:t>Webcam</a:t>
            </a:r>
            <a:endParaRPr lang="en-US" sz="1350" dirty="0"/>
          </a:p>
        </p:txBody>
      </p:sp>
      <p:sp>
        <p:nvSpPr>
          <p:cNvPr id="7" name="Text 5"/>
          <p:cNvSpPr txBox="1"/>
          <p:nvPr/>
        </p:nvSpPr>
        <p:spPr>
          <a:xfrm>
            <a:off x="513436" y="3493008"/>
            <a:ext cx="1453896" cy="548640"/>
          </a:xfrm>
          <a:prstGeom prst="rect">
            <a:avLst/>
          </a:prstGeom>
          <a:noFill/>
          <a:ln/>
        </p:spPr>
        <p:txBody>
          <a:bodyPr wrap="square" lIns="0" tIns="0" rIns="0" bIns="0" rtlCol="0" anchor="t"/>
          <a:lstStyle/>
          <a:p>
            <a:pPr algn="ctr" indent="0" marL="0">
              <a:buNone/>
            </a:pPr>
            <a:r>
              <a:rPr lang="en-US" sz="1150" dirty="0">
                <a:solidFill>
                  <a:srgbClr val="5B6675"/>
                </a:solidFill>
                <a:latin typeface="Calibri" pitchFamily="34" charset="0"/>
                <a:ea typeface="Calibri" pitchFamily="34" charset="-122"/>
                <a:cs typeface="Calibri" pitchFamily="34" charset="-120"/>
              </a:rPr>
              <a:t>laptop camera</a:t>
            </a:r>
            <a:endParaRPr lang="en-US" sz="1150" dirty="0"/>
          </a:p>
        </p:txBody>
      </p:sp>
      <p:sp>
        <p:nvSpPr>
          <p:cNvPr id="8" name="Shape 6"/>
          <p:cNvSpPr/>
          <p:nvPr/>
        </p:nvSpPr>
        <p:spPr>
          <a:xfrm>
            <a:off x="1967332" y="2766060"/>
            <a:ext cx="164592" cy="0"/>
          </a:xfrm>
          <a:prstGeom prst="line">
            <a:avLst/>
          </a:prstGeom>
          <a:noFill/>
          <a:ln w="22225">
            <a:solidFill>
              <a:srgbClr val="1F2933"/>
            </a:solidFill>
            <a:prstDash val="solid"/>
            <a:tailEnd type="triangle"/>
          </a:ln>
        </p:spPr>
      </p:sp>
      <p:sp>
        <p:nvSpPr>
          <p:cNvPr id="9" name="Shape 7"/>
          <p:cNvSpPr/>
          <p:nvPr/>
        </p:nvSpPr>
        <p:spPr>
          <a:xfrm>
            <a:off x="2150212" y="2148840"/>
            <a:ext cx="1417320" cy="1234440"/>
          </a:xfrm>
          <a:prstGeom prst="rect">
            <a:avLst/>
          </a:prstGeom>
          <a:solidFill>
            <a:srgbClr val="F4F6F8"/>
          </a:solidFill>
          <a:ln w="19050">
            <a:solidFill>
              <a:srgbClr val="C9D1D9"/>
            </a:solidFill>
            <a:prstDash val="solid"/>
          </a:ln>
        </p:spPr>
      </p:sp>
      <p:sp>
        <p:nvSpPr>
          <p:cNvPr id="10" name="Text 8"/>
          <p:cNvSpPr txBox="1"/>
          <p:nvPr/>
        </p:nvSpPr>
        <p:spPr>
          <a:xfrm>
            <a:off x="2223364" y="2148840"/>
            <a:ext cx="1271016" cy="1234440"/>
          </a:xfrm>
          <a:prstGeom prst="rect">
            <a:avLst/>
          </a:prstGeom>
          <a:noFill/>
          <a:ln/>
        </p:spPr>
        <p:txBody>
          <a:bodyPr wrap="square" lIns="0" tIns="0" rIns="0" bIns="0" rtlCol="0" anchor="ctr"/>
          <a:lstStyle/>
          <a:p>
            <a:pPr algn="ctr" indent="0" marL="0">
              <a:buNone/>
            </a:pPr>
            <a:r>
              <a:rPr lang="en-US" sz="1350" b="1" dirty="0">
                <a:solidFill>
                  <a:srgbClr val="1F2933"/>
                </a:solidFill>
                <a:latin typeface="Arial" pitchFamily="34" charset="0"/>
                <a:ea typeface="Arial" pitchFamily="34" charset="-122"/>
                <a:cs typeface="Arial" pitchFamily="34" charset="-120"/>
              </a:rPr>
              <a:t>Streamlit UI</a:t>
            </a:r>
            <a:endParaRPr lang="en-US" sz="1350" dirty="0"/>
          </a:p>
        </p:txBody>
      </p:sp>
      <p:sp>
        <p:nvSpPr>
          <p:cNvPr id="11" name="Text 9"/>
          <p:cNvSpPr txBox="1"/>
          <p:nvPr/>
        </p:nvSpPr>
        <p:spPr>
          <a:xfrm>
            <a:off x="2131924" y="3493008"/>
            <a:ext cx="1453896" cy="548640"/>
          </a:xfrm>
          <a:prstGeom prst="rect">
            <a:avLst/>
          </a:prstGeom>
          <a:noFill/>
          <a:ln/>
        </p:spPr>
        <p:txBody>
          <a:bodyPr wrap="square" lIns="0" tIns="0" rIns="0" bIns="0" rtlCol="0" anchor="t"/>
          <a:lstStyle/>
          <a:p>
            <a:pPr algn="ctr" indent="0" marL="0">
              <a:buNone/>
            </a:pPr>
            <a:r>
              <a:rPr lang="en-US" sz="1150" dirty="0">
                <a:solidFill>
                  <a:srgbClr val="5B6675"/>
                </a:solidFill>
                <a:latin typeface="Calibri" pitchFamily="34" charset="0"/>
                <a:ea typeface="Calibri" pitchFamily="34" charset="-122"/>
                <a:cs typeface="Calibri" pitchFamily="34" charset="-120"/>
              </a:rPr>
              <a:t>toggle + threshold slider</a:t>
            </a:r>
            <a:endParaRPr lang="en-US" sz="1150" dirty="0"/>
          </a:p>
        </p:txBody>
      </p:sp>
      <p:sp>
        <p:nvSpPr>
          <p:cNvPr id="12" name="Shape 10"/>
          <p:cNvSpPr/>
          <p:nvPr/>
        </p:nvSpPr>
        <p:spPr>
          <a:xfrm>
            <a:off x="3585820" y="2766060"/>
            <a:ext cx="164592" cy="0"/>
          </a:xfrm>
          <a:prstGeom prst="line">
            <a:avLst/>
          </a:prstGeom>
          <a:noFill/>
          <a:ln w="22225">
            <a:solidFill>
              <a:srgbClr val="1F2933"/>
            </a:solidFill>
            <a:prstDash val="solid"/>
            <a:tailEnd type="triangle"/>
          </a:ln>
        </p:spPr>
      </p:sp>
      <p:sp>
        <p:nvSpPr>
          <p:cNvPr id="13" name="Shape 11"/>
          <p:cNvSpPr/>
          <p:nvPr/>
        </p:nvSpPr>
        <p:spPr>
          <a:xfrm>
            <a:off x="3768700" y="2148840"/>
            <a:ext cx="1417320" cy="1234440"/>
          </a:xfrm>
          <a:prstGeom prst="rect">
            <a:avLst/>
          </a:prstGeom>
          <a:solidFill>
            <a:srgbClr val="F4F6F8"/>
          </a:solidFill>
          <a:ln w="19050">
            <a:solidFill>
              <a:srgbClr val="C9D1D9"/>
            </a:solidFill>
            <a:prstDash val="solid"/>
          </a:ln>
        </p:spPr>
      </p:sp>
      <p:sp>
        <p:nvSpPr>
          <p:cNvPr id="14" name="Text 12"/>
          <p:cNvSpPr txBox="1"/>
          <p:nvPr/>
        </p:nvSpPr>
        <p:spPr>
          <a:xfrm>
            <a:off x="3841852" y="2148840"/>
            <a:ext cx="1271016" cy="1234440"/>
          </a:xfrm>
          <a:prstGeom prst="rect">
            <a:avLst/>
          </a:prstGeom>
          <a:noFill/>
          <a:ln/>
        </p:spPr>
        <p:txBody>
          <a:bodyPr wrap="square" lIns="0" tIns="0" rIns="0" bIns="0" rtlCol="0" anchor="ctr"/>
          <a:lstStyle/>
          <a:p>
            <a:pPr algn="ctr" indent="0" marL="0">
              <a:buNone/>
            </a:pPr>
            <a:r>
              <a:rPr lang="en-US" sz="1350" b="1" dirty="0">
                <a:solidFill>
                  <a:srgbClr val="1F2933"/>
                </a:solidFill>
                <a:latin typeface="Arial" pitchFamily="34" charset="0"/>
                <a:ea typeface="Arial" pitchFamily="34" charset="-122"/>
                <a:cs typeface="Arial" pitchFamily="34" charset="-120"/>
              </a:rPr>
              <a:t>OpenCV Capture</a:t>
            </a:r>
            <a:endParaRPr lang="en-US" sz="1350" dirty="0"/>
          </a:p>
        </p:txBody>
      </p:sp>
      <p:sp>
        <p:nvSpPr>
          <p:cNvPr id="15" name="Text 13"/>
          <p:cNvSpPr txBox="1"/>
          <p:nvPr/>
        </p:nvSpPr>
        <p:spPr>
          <a:xfrm>
            <a:off x="3750412" y="3493008"/>
            <a:ext cx="1453896" cy="548640"/>
          </a:xfrm>
          <a:prstGeom prst="rect">
            <a:avLst/>
          </a:prstGeom>
          <a:noFill/>
          <a:ln/>
        </p:spPr>
        <p:txBody>
          <a:bodyPr wrap="square" lIns="0" tIns="0" rIns="0" bIns="0" rtlCol="0" anchor="t"/>
          <a:lstStyle/>
          <a:p>
            <a:pPr algn="ctr" indent="0" marL="0">
              <a:buNone/>
            </a:pPr>
            <a:r>
              <a:rPr lang="en-US" sz="1150" dirty="0">
                <a:solidFill>
                  <a:srgbClr val="5B6675"/>
                </a:solidFill>
                <a:latin typeface="Calibri" pitchFamily="34" charset="0"/>
                <a:ea typeface="Calibri" pitchFamily="34" charset="-122"/>
                <a:cs typeface="Calibri" pitchFamily="34" charset="-120"/>
              </a:rPr>
              <a:t>VideoCapture, 640x480 BGR</a:t>
            </a:r>
            <a:endParaRPr lang="en-US" sz="1150" dirty="0"/>
          </a:p>
        </p:txBody>
      </p:sp>
      <p:sp>
        <p:nvSpPr>
          <p:cNvPr id="16" name="Shape 14"/>
          <p:cNvSpPr/>
          <p:nvPr/>
        </p:nvSpPr>
        <p:spPr>
          <a:xfrm>
            <a:off x="5204308" y="2766060"/>
            <a:ext cx="164592" cy="0"/>
          </a:xfrm>
          <a:prstGeom prst="line">
            <a:avLst/>
          </a:prstGeom>
          <a:noFill/>
          <a:ln w="22225">
            <a:solidFill>
              <a:srgbClr val="1F2933"/>
            </a:solidFill>
            <a:prstDash val="solid"/>
            <a:tailEnd type="triangle"/>
          </a:ln>
        </p:spPr>
      </p:sp>
      <p:sp>
        <p:nvSpPr>
          <p:cNvPr id="17" name="Shape 15"/>
          <p:cNvSpPr/>
          <p:nvPr/>
        </p:nvSpPr>
        <p:spPr>
          <a:xfrm>
            <a:off x="5387188" y="2148840"/>
            <a:ext cx="1417320" cy="1234440"/>
          </a:xfrm>
          <a:prstGeom prst="rect">
            <a:avLst/>
          </a:prstGeom>
          <a:solidFill>
            <a:srgbClr val="EAF7EE"/>
          </a:solidFill>
          <a:ln w="19050">
            <a:solidFill>
              <a:srgbClr val="16A34A"/>
            </a:solidFill>
            <a:prstDash val="solid"/>
          </a:ln>
        </p:spPr>
      </p:sp>
      <p:sp>
        <p:nvSpPr>
          <p:cNvPr id="18" name="Text 16"/>
          <p:cNvSpPr txBox="1"/>
          <p:nvPr/>
        </p:nvSpPr>
        <p:spPr>
          <a:xfrm>
            <a:off x="5460340" y="2148840"/>
            <a:ext cx="1271016" cy="1234440"/>
          </a:xfrm>
          <a:prstGeom prst="rect">
            <a:avLst/>
          </a:prstGeom>
          <a:noFill/>
          <a:ln/>
        </p:spPr>
        <p:txBody>
          <a:bodyPr wrap="square" lIns="0" tIns="0" rIns="0" bIns="0" rtlCol="0" anchor="ctr"/>
          <a:lstStyle/>
          <a:p>
            <a:pPr algn="ctr" indent="0" marL="0">
              <a:buNone/>
            </a:pPr>
            <a:r>
              <a:rPr lang="en-US" sz="1350" b="1" dirty="0">
                <a:solidFill>
                  <a:srgbClr val="1F2933"/>
                </a:solidFill>
                <a:latin typeface="Arial" pitchFamily="34" charset="0"/>
                <a:ea typeface="Arial" pitchFamily="34" charset="-122"/>
                <a:cs typeface="Arial" pitchFamily="34" charset="-120"/>
              </a:rPr>
              <a:t>Pretrained YOLO</a:t>
            </a:r>
            <a:endParaRPr lang="en-US" sz="1350" dirty="0"/>
          </a:p>
        </p:txBody>
      </p:sp>
      <p:sp>
        <p:nvSpPr>
          <p:cNvPr id="19" name="Text 17"/>
          <p:cNvSpPr txBox="1"/>
          <p:nvPr/>
        </p:nvSpPr>
        <p:spPr>
          <a:xfrm>
            <a:off x="5368900" y="3493008"/>
            <a:ext cx="1453896" cy="548640"/>
          </a:xfrm>
          <a:prstGeom prst="rect">
            <a:avLst/>
          </a:prstGeom>
          <a:noFill/>
          <a:ln/>
        </p:spPr>
        <p:txBody>
          <a:bodyPr wrap="square" lIns="0" tIns="0" rIns="0" bIns="0" rtlCol="0" anchor="t"/>
          <a:lstStyle/>
          <a:p>
            <a:pPr algn="ctr" indent="0" marL="0">
              <a:buNone/>
            </a:pPr>
            <a:r>
              <a:rPr lang="en-US" sz="1150" dirty="0">
                <a:solidFill>
                  <a:srgbClr val="5B6675"/>
                </a:solidFill>
                <a:latin typeface="Calibri" pitchFamily="34" charset="0"/>
                <a:ea typeface="Calibri" pitchFamily="34" charset="-122"/>
                <a:cs typeface="Calibri" pitchFamily="34" charset="-120"/>
              </a:rPr>
              <a:t>yolo11n.pt, COCO</a:t>
            </a:r>
            <a:endParaRPr lang="en-US" sz="1150" dirty="0"/>
          </a:p>
        </p:txBody>
      </p:sp>
      <p:sp>
        <p:nvSpPr>
          <p:cNvPr id="20" name="Shape 18"/>
          <p:cNvSpPr/>
          <p:nvPr/>
        </p:nvSpPr>
        <p:spPr>
          <a:xfrm>
            <a:off x="6822796" y="2766060"/>
            <a:ext cx="164592" cy="0"/>
          </a:xfrm>
          <a:prstGeom prst="line">
            <a:avLst/>
          </a:prstGeom>
          <a:noFill/>
          <a:ln w="22225">
            <a:solidFill>
              <a:srgbClr val="1F2933"/>
            </a:solidFill>
            <a:prstDash val="solid"/>
            <a:tailEnd type="triangle"/>
          </a:ln>
        </p:spPr>
      </p:sp>
      <p:sp>
        <p:nvSpPr>
          <p:cNvPr id="21" name="Shape 19"/>
          <p:cNvSpPr/>
          <p:nvPr/>
        </p:nvSpPr>
        <p:spPr>
          <a:xfrm>
            <a:off x="7005676" y="2148840"/>
            <a:ext cx="1417320" cy="1234440"/>
          </a:xfrm>
          <a:prstGeom prst="rect">
            <a:avLst/>
          </a:prstGeom>
          <a:solidFill>
            <a:srgbClr val="EAF7EE"/>
          </a:solidFill>
          <a:ln w="19050">
            <a:solidFill>
              <a:srgbClr val="16A34A"/>
            </a:solidFill>
            <a:prstDash val="solid"/>
          </a:ln>
        </p:spPr>
      </p:sp>
      <p:sp>
        <p:nvSpPr>
          <p:cNvPr id="22" name="Text 20"/>
          <p:cNvSpPr txBox="1"/>
          <p:nvPr/>
        </p:nvSpPr>
        <p:spPr>
          <a:xfrm>
            <a:off x="7078828" y="2148840"/>
            <a:ext cx="1271016" cy="1234440"/>
          </a:xfrm>
          <a:prstGeom prst="rect">
            <a:avLst/>
          </a:prstGeom>
          <a:noFill/>
          <a:ln/>
        </p:spPr>
        <p:txBody>
          <a:bodyPr wrap="square" lIns="0" tIns="0" rIns="0" bIns="0" rtlCol="0" anchor="ctr"/>
          <a:lstStyle/>
          <a:p>
            <a:pPr algn="ctr" indent="0" marL="0">
              <a:buNone/>
            </a:pPr>
            <a:r>
              <a:rPr lang="en-US" sz="1350" b="1" dirty="0">
                <a:solidFill>
                  <a:srgbClr val="1F2933"/>
                </a:solidFill>
                <a:latin typeface="Arial" pitchFamily="34" charset="0"/>
                <a:ea typeface="Arial" pitchFamily="34" charset="-122"/>
                <a:cs typeface="Arial" pitchFamily="34" charset="-120"/>
              </a:rPr>
              <a:t>Object Detection</a:t>
            </a:r>
            <a:endParaRPr lang="en-US" sz="1350" dirty="0"/>
          </a:p>
        </p:txBody>
      </p:sp>
      <p:sp>
        <p:nvSpPr>
          <p:cNvPr id="23" name="Text 21"/>
          <p:cNvSpPr txBox="1"/>
          <p:nvPr/>
        </p:nvSpPr>
        <p:spPr>
          <a:xfrm>
            <a:off x="6987388" y="3493008"/>
            <a:ext cx="1453896" cy="548640"/>
          </a:xfrm>
          <a:prstGeom prst="rect">
            <a:avLst/>
          </a:prstGeom>
          <a:noFill/>
          <a:ln/>
        </p:spPr>
        <p:txBody>
          <a:bodyPr wrap="square" lIns="0" tIns="0" rIns="0" bIns="0" rtlCol="0" anchor="t"/>
          <a:lstStyle/>
          <a:p>
            <a:pPr algn="ctr" indent="0" marL="0">
              <a:buNone/>
            </a:pPr>
            <a:r>
              <a:rPr lang="en-US" sz="1150" dirty="0">
                <a:solidFill>
                  <a:srgbClr val="5B6675"/>
                </a:solidFill>
                <a:latin typeface="Calibri" pitchFamily="34" charset="0"/>
                <a:ea typeface="Calibri" pitchFamily="34" charset="-122"/>
                <a:cs typeface="Calibri" pitchFamily="34" charset="-120"/>
              </a:rPr>
              <a:t>boxes, classes, scores, NMS</a:t>
            </a:r>
            <a:endParaRPr lang="en-US" sz="1150" dirty="0"/>
          </a:p>
        </p:txBody>
      </p:sp>
      <p:sp>
        <p:nvSpPr>
          <p:cNvPr id="24" name="Shape 22"/>
          <p:cNvSpPr/>
          <p:nvPr/>
        </p:nvSpPr>
        <p:spPr>
          <a:xfrm>
            <a:off x="8441284" y="2766060"/>
            <a:ext cx="164592" cy="0"/>
          </a:xfrm>
          <a:prstGeom prst="line">
            <a:avLst/>
          </a:prstGeom>
          <a:noFill/>
          <a:ln w="22225">
            <a:solidFill>
              <a:srgbClr val="1F2933"/>
            </a:solidFill>
            <a:prstDash val="solid"/>
            <a:tailEnd type="triangle"/>
          </a:ln>
        </p:spPr>
      </p:sp>
      <p:sp>
        <p:nvSpPr>
          <p:cNvPr id="25" name="Shape 23"/>
          <p:cNvSpPr/>
          <p:nvPr/>
        </p:nvSpPr>
        <p:spPr>
          <a:xfrm>
            <a:off x="8624164" y="2148840"/>
            <a:ext cx="1417320" cy="1234440"/>
          </a:xfrm>
          <a:prstGeom prst="rect">
            <a:avLst/>
          </a:prstGeom>
          <a:solidFill>
            <a:srgbClr val="F4F6F8"/>
          </a:solidFill>
          <a:ln w="19050">
            <a:solidFill>
              <a:srgbClr val="C9D1D9"/>
            </a:solidFill>
            <a:prstDash val="solid"/>
          </a:ln>
        </p:spPr>
      </p:sp>
      <p:sp>
        <p:nvSpPr>
          <p:cNvPr id="26" name="Text 24"/>
          <p:cNvSpPr txBox="1"/>
          <p:nvPr/>
        </p:nvSpPr>
        <p:spPr>
          <a:xfrm>
            <a:off x="8697316" y="2148840"/>
            <a:ext cx="1271016" cy="1234440"/>
          </a:xfrm>
          <a:prstGeom prst="rect">
            <a:avLst/>
          </a:prstGeom>
          <a:noFill/>
          <a:ln/>
        </p:spPr>
        <p:txBody>
          <a:bodyPr wrap="square" lIns="0" tIns="0" rIns="0" bIns="0" rtlCol="0" anchor="ctr"/>
          <a:lstStyle/>
          <a:p>
            <a:pPr algn="ctr" indent="0" marL="0">
              <a:buNone/>
            </a:pPr>
            <a:r>
              <a:rPr lang="en-US" sz="1350" b="1" dirty="0">
                <a:solidFill>
                  <a:srgbClr val="1F2933"/>
                </a:solidFill>
                <a:latin typeface="Arial" pitchFamily="34" charset="0"/>
                <a:ea typeface="Arial" pitchFamily="34" charset="-122"/>
                <a:cs typeface="Arial" pitchFamily="34" charset="-120"/>
              </a:rPr>
              <a:t>Boxes + Labels + Confidence</a:t>
            </a:r>
            <a:endParaRPr lang="en-US" sz="1350" dirty="0"/>
          </a:p>
        </p:txBody>
      </p:sp>
      <p:sp>
        <p:nvSpPr>
          <p:cNvPr id="27" name="Text 25"/>
          <p:cNvSpPr txBox="1"/>
          <p:nvPr/>
        </p:nvSpPr>
        <p:spPr>
          <a:xfrm>
            <a:off x="8605876" y="3493008"/>
            <a:ext cx="1453896" cy="548640"/>
          </a:xfrm>
          <a:prstGeom prst="rect">
            <a:avLst/>
          </a:prstGeom>
          <a:noFill/>
          <a:ln/>
        </p:spPr>
        <p:txBody>
          <a:bodyPr wrap="square" lIns="0" tIns="0" rIns="0" bIns="0" rtlCol="0" anchor="t"/>
          <a:lstStyle/>
          <a:p>
            <a:pPr algn="ctr" indent="0" marL="0">
              <a:buNone/>
            </a:pPr>
            <a:r>
              <a:rPr lang="en-US" sz="1150" dirty="0">
                <a:solidFill>
                  <a:srgbClr val="5B6675"/>
                </a:solidFill>
                <a:latin typeface="Calibri" pitchFamily="34" charset="0"/>
                <a:ea typeface="Calibri" pitchFamily="34" charset="-122"/>
                <a:cs typeface="Calibri" pitchFamily="34" charset="-120"/>
              </a:rPr>
              <a:t>cv2.rectangle / putText</a:t>
            </a:r>
            <a:endParaRPr lang="en-US" sz="1150" dirty="0"/>
          </a:p>
        </p:txBody>
      </p:sp>
      <p:sp>
        <p:nvSpPr>
          <p:cNvPr id="28" name="Shape 26"/>
          <p:cNvSpPr/>
          <p:nvPr/>
        </p:nvSpPr>
        <p:spPr>
          <a:xfrm>
            <a:off x="10059772" y="2766060"/>
            <a:ext cx="164592" cy="0"/>
          </a:xfrm>
          <a:prstGeom prst="line">
            <a:avLst/>
          </a:prstGeom>
          <a:noFill/>
          <a:ln w="22225">
            <a:solidFill>
              <a:srgbClr val="1F2933"/>
            </a:solidFill>
            <a:prstDash val="solid"/>
            <a:tailEnd type="triangle"/>
          </a:ln>
        </p:spPr>
      </p:sp>
      <p:sp>
        <p:nvSpPr>
          <p:cNvPr id="29" name="Shape 27"/>
          <p:cNvSpPr/>
          <p:nvPr/>
        </p:nvSpPr>
        <p:spPr>
          <a:xfrm>
            <a:off x="10242652" y="2148840"/>
            <a:ext cx="1417320" cy="1234440"/>
          </a:xfrm>
          <a:prstGeom prst="rect">
            <a:avLst/>
          </a:prstGeom>
          <a:solidFill>
            <a:srgbClr val="F4F6F8"/>
          </a:solidFill>
          <a:ln w="19050">
            <a:solidFill>
              <a:srgbClr val="C9D1D9"/>
            </a:solidFill>
            <a:prstDash val="solid"/>
          </a:ln>
        </p:spPr>
      </p:sp>
      <p:sp>
        <p:nvSpPr>
          <p:cNvPr id="30" name="Text 28"/>
          <p:cNvSpPr txBox="1"/>
          <p:nvPr/>
        </p:nvSpPr>
        <p:spPr>
          <a:xfrm>
            <a:off x="10315804" y="2148840"/>
            <a:ext cx="1271016" cy="1234440"/>
          </a:xfrm>
          <a:prstGeom prst="rect">
            <a:avLst/>
          </a:prstGeom>
          <a:noFill/>
          <a:ln/>
        </p:spPr>
        <p:txBody>
          <a:bodyPr wrap="square" lIns="0" tIns="0" rIns="0" bIns="0" rtlCol="0" anchor="ctr"/>
          <a:lstStyle/>
          <a:p>
            <a:pPr algn="ctr" indent="0" marL="0">
              <a:buNone/>
            </a:pPr>
            <a:r>
              <a:rPr lang="en-US" sz="1350" b="1" dirty="0">
                <a:solidFill>
                  <a:srgbClr val="1F2933"/>
                </a:solidFill>
                <a:latin typeface="Arial" pitchFamily="34" charset="0"/>
                <a:ea typeface="Arial" pitchFamily="34" charset="-122"/>
                <a:cs typeface="Arial" pitchFamily="34" charset="-120"/>
              </a:rPr>
              <a:t>Streamlit Display</a:t>
            </a:r>
            <a:endParaRPr lang="en-US" sz="1350" dirty="0"/>
          </a:p>
        </p:txBody>
      </p:sp>
      <p:sp>
        <p:nvSpPr>
          <p:cNvPr id="31" name="Text 29"/>
          <p:cNvSpPr txBox="1"/>
          <p:nvPr/>
        </p:nvSpPr>
        <p:spPr>
          <a:xfrm>
            <a:off x="10224364" y="3493008"/>
            <a:ext cx="1453896" cy="548640"/>
          </a:xfrm>
          <a:prstGeom prst="rect">
            <a:avLst/>
          </a:prstGeom>
          <a:noFill/>
          <a:ln/>
        </p:spPr>
        <p:txBody>
          <a:bodyPr wrap="square" lIns="0" tIns="0" rIns="0" bIns="0" rtlCol="0" anchor="t"/>
          <a:lstStyle/>
          <a:p>
            <a:pPr algn="ctr" indent="0" marL="0">
              <a:buNone/>
            </a:pPr>
            <a:r>
              <a:rPr lang="en-US" sz="1150" dirty="0">
                <a:solidFill>
                  <a:srgbClr val="5B6675"/>
                </a:solidFill>
                <a:latin typeface="Calibri" pitchFamily="34" charset="0"/>
                <a:ea typeface="Calibri" pitchFamily="34" charset="-122"/>
                <a:cs typeface="Calibri" pitchFamily="34" charset="-120"/>
              </a:rPr>
              <a:t>BGR → RGB, st.image</a:t>
            </a:r>
            <a:endParaRPr lang="en-US" sz="1150" dirty="0"/>
          </a:p>
        </p:txBody>
      </p:sp>
      <p:sp>
        <p:nvSpPr>
          <p:cNvPr id="32" name="Shape 30"/>
          <p:cNvSpPr/>
          <p:nvPr/>
        </p:nvSpPr>
        <p:spPr>
          <a:xfrm>
            <a:off x="10951312" y="4041648"/>
            <a:ext cx="0" cy="301752"/>
          </a:xfrm>
          <a:prstGeom prst="line">
            <a:avLst/>
          </a:prstGeom>
          <a:noFill/>
          <a:ln w="25400">
            <a:solidFill>
              <a:srgbClr val="16A34A"/>
            </a:solidFill>
            <a:prstDash val="dash"/>
          </a:ln>
        </p:spPr>
      </p:sp>
      <p:sp>
        <p:nvSpPr>
          <p:cNvPr id="33" name="Shape 31"/>
          <p:cNvSpPr/>
          <p:nvPr/>
        </p:nvSpPr>
        <p:spPr>
          <a:xfrm>
            <a:off x="4477360" y="4343400"/>
            <a:ext cx="6473952" cy="0"/>
          </a:xfrm>
          <a:prstGeom prst="line">
            <a:avLst/>
          </a:prstGeom>
          <a:noFill/>
          <a:ln w="25400">
            <a:solidFill>
              <a:srgbClr val="16A34A"/>
            </a:solidFill>
            <a:prstDash val="dash"/>
          </a:ln>
        </p:spPr>
      </p:sp>
      <p:sp>
        <p:nvSpPr>
          <p:cNvPr id="34" name="Shape 32"/>
          <p:cNvSpPr/>
          <p:nvPr/>
        </p:nvSpPr>
        <p:spPr>
          <a:xfrm flipV="1">
            <a:off x="4477360" y="4041648"/>
            <a:ext cx="0" cy="301752"/>
          </a:xfrm>
          <a:prstGeom prst="line">
            <a:avLst/>
          </a:prstGeom>
          <a:noFill/>
          <a:ln w="25400">
            <a:solidFill>
              <a:srgbClr val="16A34A"/>
            </a:solidFill>
            <a:prstDash val="dash"/>
            <a:tailEnd type="triangle"/>
          </a:ln>
        </p:spPr>
      </p:sp>
      <p:sp>
        <p:nvSpPr>
          <p:cNvPr id="35" name="Text 33"/>
          <p:cNvSpPr txBox="1"/>
          <p:nvPr/>
        </p:nvSpPr>
        <p:spPr>
          <a:xfrm>
            <a:off x="4477360" y="4416552"/>
            <a:ext cx="6473952" cy="320040"/>
          </a:xfrm>
          <a:prstGeom prst="rect">
            <a:avLst/>
          </a:prstGeom>
          <a:noFill/>
          <a:ln/>
        </p:spPr>
        <p:txBody>
          <a:bodyPr wrap="square" lIns="0" tIns="0" rIns="0" bIns="0" rtlCol="0" anchor="ctr"/>
          <a:lstStyle/>
          <a:p>
            <a:pPr algn="ctr" indent="0" marL="0">
              <a:buNone/>
            </a:pPr>
            <a:r>
              <a:rPr lang="en-US" sz="1300" i="1" dirty="0">
                <a:solidFill>
                  <a:srgbClr val="15803D"/>
                </a:solidFill>
                <a:latin typeface="Calibri" pitchFamily="34" charset="0"/>
                <a:ea typeface="Calibri" pitchFamily="34" charset="-122"/>
                <a:cs typeface="Calibri" pitchFamily="34" charset="-120"/>
              </a:rPr>
              <a:t>repeat for every frame until detection is switched off</a:t>
            </a:r>
            <a:endParaRPr lang="en-US" sz="1300" dirty="0"/>
          </a:p>
        </p:txBody>
      </p:sp>
      <p:sp>
        <p:nvSpPr>
          <p:cNvPr id="36" name="Shape 34"/>
          <p:cNvSpPr/>
          <p:nvPr/>
        </p:nvSpPr>
        <p:spPr>
          <a:xfrm>
            <a:off x="548640" y="5257800"/>
            <a:ext cx="11094415" cy="640080"/>
          </a:xfrm>
          <a:prstGeom prst="rect">
            <a:avLst/>
          </a:prstGeom>
          <a:solidFill>
            <a:srgbClr val="F4F6F8"/>
          </a:solidFill>
          <a:ln w="12700">
            <a:solidFill>
              <a:srgbClr val="F4F6F8"/>
            </a:solidFill>
            <a:prstDash val="solid"/>
          </a:ln>
        </p:spPr>
      </p:sp>
      <p:sp>
        <p:nvSpPr>
          <p:cNvPr id="37" name="Text 35"/>
          <p:cNvSpPr txBox="1"/>
          <p:nvPr/>
        </p:nvSpPr>
        <p:spPr>
          <a:xfrm>
            <a:off x="777240" y="5257800"/>
            <a:ext cx="10637215" cy="640080"/>
          </a:xfrm>
          <a:prstGeom prst="rect">
            <a:avLst/>
          </a:prstGeom>
          <a:noFill/>
          <a:ln/>
        </p:spPr>
        <p:txBody>
          <a:bodyPr wrap="square" lIns="0" tIns="0" rIns="0" bIns="0" rtlCol="0" anchor="ctr"/>
          <a:lstStyle/>
          <a:p>
            <a:pPr indent="0" marL="0">
              <a:buNone/>
            </a:pPr>
            <a:r>
              <a:rPr lang="en-US" sz="1600" dirty="0">
                <a:solidFill>
                  <a:srgbClr val="1F2933"/>
                </a:solidFill>
                <a:latin typeface="Calibri" pitchFamily="34" charset="0"/>
                <a:ea typeface="Calibri" pitchFamily="34" charset="-122"/>
                <a:cs typeface="Calibri" pitchFamily="34" charset="-120"/>
              </a:rPr>
              <a:t>Everything runs locally on the laptop: no backend server, no database, no cloud. Streamlit is the only UI framework.</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1014984" cy="310896"/>
          </a:xfrm>
          <a:prstGeom prst="rect">
            <a:avLst/>
          </a:prstGeom>
          <a:solidFill>
            <a:srgbClr val="16A34A"/>
          </a:solidFill>
          <a:ln w="12700">
            <a:solidFill>
              <a:srgbClr val="16A34A"/>
            </a:solidFill>
            <a:prstDash val="solid"/>
          </a:ln>
        </p:spPr>
      </p:sp>
      <p:sp>
        <p:nvSpPr>
          <p:cNvPr id="3" name="Text 1"/>
          <p:cNvSpPr txBox="1"/>
          <p:nvPr/>
        </p:nvSpPr>
        <p:spPr>
          <a:xfrm>
            <a:off x="548640" y="411480"/>
            <a:ext cx="1014984" cy="310896"/>
          </a:xfrm>
          <a:prstGeom prst="rect">
            <a:avLst/>
          </a:prstGeom>
          <a:noFill/>
          <a:ln/>
        </p:spPr>
        <p:txBody>
          <a:bodyPr wrap="none" lIns="0" tIns="0" rIns="0" bIns="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METHOD</a:t>
            </a:r>
            <a:endParaRPr lang="en-US" sz="1100" dirty="0"/>
          </a:p>
        </p:txBody>
      </p:sp>
      <p:sp>
        <p:nvSpPr>
          <p:cNvPr id="4" name="Text 2"/>
          <p:cNvSpPr txBox="1"/>
          <p:nvPr/>
        </p:nvSpPr>
        <p:spPr>
          <a:xfrm>
            <a:off x="548640" y="777240"/>
            <a:ext cx="11094415" cy="777240"/>
          </a:xfrm>
          <a:prstGeom prst="rect">
            <a:avLst/>
          </a:prstGeom>
          <a:noFill/>
          <a:ln/>
        </p:spPr>
        <p:txBody>
          <a:bodyPr wrap="square" lIns="0" tIns="0" rIns="0" bIns="0" rtlCol="0" anchor="ctr"/>
          <a:lstStyle/>
          <a:p>
            <a:pPr indent="0" marL="0">
              <a:buNone/>
            </a:pPr>
            <a:r>
              <a:rPr lang="en-US" sz="3400" b="1" dirty="0">
                <a:solidFill>
                  <a:srgbClr val="1F2933"/>
                </a:solidFill>
                <a:latin typeface="Arial" pitchFamily="34" charset="0"/>
                <a:ea typeface="Arial" pitchFamily="34" charset="-122"/>
                <a:cs typeface="Arial" pitchFamily="34" charset="-120"/>
              </a:rPr>
              <a:t>Methodology: One Loop per Frame</a:t>
            </a:r>
            <a:endParaRPr lang="en-US" sz="3400" dirty="0"/>
          </a:p>
        </p:txBody>
      </p:sp>
      <p:sp>
        <p:nvSpPr>
          <p:cNvPr id="5" name="Shape 3"/>
          <p:cNvSpPr/>
          <p:nvPr/>
        </p:nvSpPr>
        <p:spPr>
          <a:xfrm>
            <a:off x="586588" y="1920240"/>
            <a:ext cx="2057400" cy="2560320"/>
          </a:xfrm>
          <a:prstGeom prst="rect">
            <a:avLst/>
          </a:prstGeom>
          <a:solidFill>
            <a:srgbClr val="F4F6F8"/>
          </a:solidFill>
          <a:ln w="12700">
            <a:solidFill>
              <a:srgbClr val="F4F6F8"/>
            </a:solidFill>
            <a:prstDash val="solid"/>
          </a:ln>
        </p:spPr>
      </p:sp>
      <p:sp>
        <p:nvSpPr>
          <p:cNvPr id="6" name="Shape 4"/>
          <p:cNvSpPr/>
          <p:nvPr/>
        </p:nvSpPr>
        <p:spPr>
          <a:xfrm>
            <a:off x="1295248" y="2176272"/>
            <a:ext cx="640080" cy="640080"/>
          </a:xfrm>
          <a:prstGeom prst="ellipse">
            <a:avLst/>
          </a:prstGeom>
          <a:solidFill>
            <a:srgbClr val="16A34A"/>
          </a:solidFill>
          <a:ln w="12700">
            <a:solidFill>
              <a:srgbClr val="16A34A"/>
            </a:solidFill>
            <a:prstDash val="solid"/>
          </a:ln>
        </p:spPr>
      </p:sp>
      <p:sp>
        <p:nvSpPr>
          <p:cNvPr id="7" name="Text 5"/>
          <p:cNvSpPr txBox="1"/>
          <p:nvPr/>
        </p:nvSpPr>
        <p:spPr>
          <a:xfrm>
            <a:off x="1295248" y="2176272"/>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1</a:t>
            </a:r>
            <a:endParaRPr lang="en-US" sz="2200" dirty="0"/>
          </a:p>
        </p:txBody>
      </p:sp>
      <p:sp>
        <p:nvSpPr>
          <p:cNvPr id="8" name="Text 6"/>
          <p:cNvSpPr txBox="1"/>
          <p:nvPr/>
        </p:nvSpPr>
        <p:spPr>
          <a:xfrm>
            <a:off x="678028" y="2926080"/>
            <a:ext cx="1874520" cy="411480"/>
          </a:xfrm>
          <a:prstGeom prst="rect">
            <a:avLst/>
          </a:prstGeom>
          <a:noFill/>
          <a:ln/>
        </p:spPr>
        <p:txBody>
          <a:bodyPr wrap="square" lIns="0" tIns="0" rIns="0" bIns="0" rtlCol="0" anchor="ctr"/>
          <a:lstStyle/>
          <a:p>
            <a:pPr algn="ctr" indent="0" marL="0">
              <a:buNone/>
            </a:pPr>
            <a:r>
              <a:rPr lang="en-US" sz="1800" b="1" dirty="0">
                <a:solidFill>
                  <a:srgbClr val="1F2933"/>
                </a:solidFill>
                <a:latin typeface="Arial" pitchFamily="34" charset="0"/>
                <a:ea typeface="Arial" pitchFamily="34" charset="-122"/>
                <a:cs typeface="Arial" pitchFamily="34" charset="-120"/>
              </a:rPr>
              <a:t>Capture</a:t>
            </a:r>
            <a:endParaRPr lang="en-US" sz="1800" dirty="0"/>
          </a:p>
        </p:txBody>
      </p:sp>
      <p:sp>
        <p:nvSpPr>
          <p:cNvPr id="9" name="Text 7"/>
          <p:cNvSpPr txBox="1"/>
          <p:nvPr/>
        </p:nvSpPr>
        <p:spPr>
          <a:xfrm>
            <a:off x="696316" y="3383280"/>
            <a:ext cx="1837944" cy="502920"/>
          </a:xfrm>
          <a:prstGeom prst="rect">
            <a:avLst/>
          </a:prstGeom>
          <a:noFill/>
          <a:ln/>
        </p:spPr>
        <p:txBody>
          <a:bodyPr wrap="square" lIns="0" tIns="0" rIns="0" bIns="0" rtlCol="0" anchor="t"/>
          <a:lstStyle/>
          <a:p>
            <a:pPr algn="ctr" indent="0" marL="0">
              <a:buNone/>
            </a:pPr>
            <a:r>
              <a:rPr lang="en-US" sz="1200" dirty="0">
                <a:solidFill>
                  <a:srgbClr val="15803D"/>
                </a:solidFill>
                <a:latin typeface="Courier New" pitchFamily="34" charset="0"/>
                <a:ea typeface="Courier New" pitchFamily="34" charset="-122"/>
                <a:cs typeface="Courier New" pitchFamily="34" charset="-120"/>
              </a:rPr>
              <a:t>cap.read()</a:t>
            </a:r>
            <a:endParaRPr lang="en-US" sz="1200" dirty="0"/>
          </a:p>
        </p:txBody>
      </p:sp>
      <p:sp>
        <p:nvSpPr>
          <p:cNvPr id="10" name="Text 8"/>
          <p:cNvSpPr txBox="1"/>
          <p:nvPr/>
        </p:nvSpPr>
        <p:spPr>
          <a:xfrm>
            <a:off x="696316" y="3886200"/>
            <a:ext cx="1837944" cy="5029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BGR frame, 640x480</a:t>
            </a:r>
            <a:endParaRPr lang="en-US" sz="1300" dirty="0"/>
          </a:p>
        </p:txBody>
      </p:sp>
      <p:sp>
        <p:nvSpPr>
          <p:cNvPr id="11" name="Shape 9"/>
          <p:cNvSpPr/>
          <p:nvPr/>
        </p:nvSpPr>
        <p:spPr>
          <a:xfrm>
            <a:off x="2826868" y="1920240"/>
            <a:ext cx="2057400" cy="2560320"/>
          </a:xfrm>
          <a:prstGeom prst="rect">
            <a:avLst/>
          </a:prstGeom>
          <a:solidFill>
            <a:srgbClr val="F4F6F8"/>
          </a:solidFill>
          <a:ln w="12700">
            <a:solidFill>
              <a:srgbClr val="F4F6F8"/>
            </a:solidFill>
            <a:prstDash val="solid"/>
          </a:ln>
        </p:spPr>
      </p:sp>
      <p:sp>
        <p:nvSpPr>
          <p:cNvPr id="12" name="Shape 10"/>
          <p:cNvSpPr/>
          <p:nvPr/>
        </p:nvSpPr>
        <p:spPr>
          <a:xfrm>
            <a:off x="3535528" y="2176272"/>
            <a:ext cx="640080" cy="640080"/>
          </a:xfrm>
          <a:prstGeom prst="ellipse">
            <a:avLst/>
          </a:prstGeom>
          <a:solidFill>
            <a:srgbClr val="16A34A"/>
          </a:solidFill>
          <a:ln w="12700">
            <a:solidFill>
              <a:srgbClr val="16A34A"/>
            </a:solidFill>
            <a:prstDash val="solid"/>
          </a:ln>
        </p:spPr>
      </p:sp>
      <p:sp>
        <p:nvSpPr>
          <p:cNvPr id="13" name="Text 11"/>
          <p:cNvSpPr txBox="1"/>
          <p:nvPr/>
        </p:nvSpPr>
        <p:spPr>
          <a:xfrm>
            <a:off x="3535528" y="2176272"/>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2</a:t>
            </a:r>
            <a:endParaRPr lang="en-US" sz="2200" dirty="0"/>
          </a:p>
        </p:txBody>
      </p:sp>
      <p:sp>
        <p:nvSpPr>
          <p:cNvPr id="14" name="Text 12"/>
          <p:cNvSpPr txBox="1"/>
          <p:nvPr/>
        </p:nvSpPr>
        <p:spPr>
          <a:xfrm>
            <a:off x="2918308" y="2926080"/>
            <a:ext cx="1874520" cy="411480"/>
          </a:xfrm>
          <a:prstGeom prst="rect">
            <a:avLst/>
          </a:prstGeom>
          <a:noFill/>
          <a:ln/>
        </p:spPr>
        <p:txBody>
          <a:bodyPr wrap="square" lIns="0" tIns="0" rIns="0" bIns="0" rtlCol="0" anchor="ctr"/>
          <a:lstStyle/>
          <a:p>
            <a:pPr algn="ctr" indent="0" marL="0">
              <a:buNone/>
            </a:pPr>
            <a:r>
              <a:rPr lang="en-US" sz="1800" b="1" dirty="0">
                <a:solidFill>
                  <a:srgbClr val="1F2933"/>
                </a:solidFill>
                <a:latin typeface="Arial" pitchFamily="34" charset="0"/>
                <a:ea typeface="Arial" pitchFamily="34" charset="-122"/>
                <a:cs typeface="Arial" pitchFamily="34" charset="-120"/>
              </a:rPr>
              <a:t>Detect</a:t>
            </a:r>
            <a:endParaRPr lang="en-US" sz="1800" dirty="0"/>
          </a:p>
        </p:txBody>
      </p:sp>
      <p:sp>
        <p:nvSpPr>
          <p:cNvPr id="15" name="Text 13"/>
          <p:cNvSpPr txBox="1"/>
          <p:nvPr/>
        </p:nvSpPr>
        <p:spPr>
          <a:xfrm>
            <a:off x="2936596" y="3383280"/>
            <a:ext cx="1837944" cy="502920"/>
          </a:xfrm>
          <a:prstGeom prst="rect">
            <a:avLst/>
          </a:prstGeom>
          <a:noFill/>
          <a:ln/>
        </p:spPr>
        <p:txBody>
          <a:bodyPr wrap="square" lIns="0" tIns="0" rIns="0" bIns="0" rtlCol="0" anchor="t"/>
          <a:lstStyle/>
          <a:p>
            <a:pPr algn="ctr" indent="0" marL="0">
              <a:buNone/>
            </a:pPr>
            <a:r>
              <a:rPr lang="en-US" sz="1200" dirty="0">
                <a:solidFill>
                  <a:srgbClr val="15803D"/>
                </a:solidFill>
                <a:latin typeface="Courier New" pitchFamily="34" charset="0"/>
                <a:ea typeface="Courier New" pitchFamily="34" charset="-122"/>
                <a:cs typeface="Courier New" pitchFamily="34" charset="-120"/>
              </a:rPr>
              <a:t>model(frame, conf=t)</a:t>
            </a:r>
            <a:endParaRPr lang="en-US" sz="1200" dirty="0"/>
          </a:p>
        </p:txBody>
      </p:sp>
      <p:sp>
        <p:nvSpPr>
          <p:cNvPr id="16" name="Text 14"/>
          <p:cNvSpPr txBox="1"/>
          <p:nvPr/>
        </p:nvSpPr>
        <p:spPr>
          <a:xfrm>
            <a:off x="2936596" y="3886200"/>
            <a:ext cx="1837944" cy="5029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boxes, classes, scores</a:t>
            </a:r>
            <a:endParaRPr lang="en-US" sz="1300" dirty="0"/>
          </a:p>
        </p:txBody>
      </p:sp>
      <p:sp>
        <p:nvSpPr>
          <p:cNvPr id="17" name="Shape 15"/>
          <p:cNvSpPr/>
          <p:nvPr/>
        </p:nvSpPr>
        <p:spPr>
          <a:xfrm>
            <a:off x="5067148" y="1920240"/>
            <a:ext cx="2057400" cy="2560320"/>
          </a:xfrm>
          <a:prstGeom prst="rect">
            <a:avLst/>
          </a:prstGeom>
          <a:solidFill>
            <a:srgbClr val="F4F6F8"/>
          </a:solidFill>
          <a:ln w="12700">
            <a:solidFill>
              <a:srgbClr val="F4F6F8"/>
            </a:solidFill>
            <a:prstDash val="solid"/>
          </a:ln>
        </p:spPr>
      </p:sp>
      <p:sp>
        <p:nvSpPr>
          <p:cNvPr id="18" name="Shape 16"/>
          <p:cNvSpPr/>
          <p:nvPr/>
        </p:nvSpPr>
        <p:spPr>
          <a:xfrm>
            <a:off x="5775808" y="2176272"/>
            <a:ext cx="640080" cy="640080"/>
          </a:xfrm>
          <a:prstGeom prst="ellipse">
            <a:avLst/>
          </a:prstGeom>
          <a:solidFill>
            <a:srgbClr val="16A34A"/>
          </a:solidFill>
          <a:ln w="12700">
            <a:solidFill>
              <a:srgbClr val="16A34A"/>
            </a:solidFill>
            <a:prstDash val="solid"/>
          </a:ln>
        </p:spPr>
      </p:sp>
      <p:sp>
        <p:nvSpPr>
          <p:cNvPr id="19" name="Text 17"/>
          <p:cNvSpPr txBox="1"/>
          <p:nvPr/>
        </p:nvSpPr>
        <p:spPr>
          <a:xfrm>
            <a:off x="5775808" y="2176272"/>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3</a:t>
            </a:r>
            <a:endParaRPr lang="en-US" sz="2200" dirty="0"/>
          </a:p>
        </p:txBody>
      </p:sp>
      <p:sp>
        <p:nvSpPr>
          <p:cNvPr id="20" name="Text 18"/>
          <p:cNvSpPr txBox="1"/>
          <p:nvPr/>
        </p:nvSpPr>
        <p:spPr>
          <a:xfrm>
            <a:off x="5158588" y="2926080"/>
            <a:ext cx="1874520" cy="411480"/>
          </a:xfrm>
          <a:prstGeom prst="rect">
            <a:avLst/>
          </a:prstGeom>
          <a:noFill/>
          <a:ln/>
        </p:spPr>
        <p:txBody>
          <a:bodyPr wrap="square" lIns="0" tIns="0" rIns="0" bIns="0" rtlCol="0" anchor="ctr"/>
          <a:lstStyle/>
          <a:p>
            <a:pPr algn="ctr" indent="0" marL="0">
              <a:buNone/>
            </a:pPr>
            <a:r>
              <a:rPr lang="en-US" sz="1800" b="1" dirty="0">
                <a:solidFill>
                  <a:srgbClr val="1F2933"/>
                </a:solidFill>
                <a:latin typeface="Arial" pitchFamily="34" charset="0"/>
                <a:ea typeface="Arial" pitchFamily="34" charset="-122"/>
                <a:cs typeface="Arial" pitchFamily="34" charset="-120"/>
              </a:rPr>
              <a:t>Draw</a:t>
            </a:r>
            <a:endParaRPr lang="en-US" sz="1800" dirty="0"/>
          </a:p>
        </p:txBody>
      </p:sp>
      <p:sp>
        <p:nvSpPr>
          <p:cNvPr id="21" name="Text 19"/>
          <p:cNvSpPr txBox="1"/>
          <p:nvPr/>
        </p:nvSpPr>
        <p:spPr>
          <a:xfrm>
            <a:off x="5176876" y="3383280"/>
            <a:ext cx="1837944" cy="502920"/>
          </a:xfrm>
          <a:prstGeom prst="rect">
            <a:avLst/>
          </a:prstGeom>
          <a:noFill/>
          <a:ln/>
        </p:spPr>
        <p:txBody>
          <a:bodyPr wrap="square" lIns="0" tIns="0" rIns="0" bIns="0" rtlCol="0" anchor="t"/>
          <a:lstStyle/>
          <a:p>
            <a:pPr algn="ctr" indent="0" marL="0">
              <a:buNone/>
            </a:pPr>
            <a:r>
              <a:rPr lang="en-US" sz="1200" dirty="0">
                <a:solidFill>
                  <a:srgbClr val="15803D"/>
                </a:solidFill>
                <a:latin typeface="Courier New" pitchFamily="34" charset="0"/>
                <a:ea typeface="Courier New" pitchFamily="34" charset="-122"/>
                <a:cs typeface="Courier New" pitchFamily="34" charset="-120"/>
              </a:rPr>
              <a:t>cv2.rectangle, cv2.putText</a:t>
            </a:r>
            <a:endParaRPr lang="en-US" sz="1200" dirty="0"/>
          </a:p>
        </p:txBody>
      </p:sp>
      <p:sp>
        <p:nvSpPr>
          <p:cNvPr id="22" name="Text 20"/>
          <p:cNvSpPr txBox="1"/>
          <p:nvPr/>
        </p:nvSpPr>
        <p:spPr>
          <a:xfrm>
            <a:off x="5176876" y="3886200"/>
            <a:ext cx="1837944" cy="5029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“person 0.92”</a:t>
            </a:r>
            <a:endParaRPr lang="en-US" sz="1300" dirty="0"/>
          </a:p>
        </p:txBody>
      </p:sp>
      <p:sp>
        <p:nvSpPr>
          <p:cNvPr id="23" name="Shape 21"/>
          <p:cNvSpPr/>
          <p:nvPr/>
        </p:nvSpPr>
        <p:spPr>
          <a:xfrm>
            <a:off x="7307428" y="1920240"/>
            <a:ext cx="2057400" cy="2560320"/>
          </a:xfrm>
          <a:prstGeom prst="rect">
            <a:avLst/>
          </a:prstGeom>
          <a:solidFill>
            <a:srgbClr val="F4F6F8"/>
          </a:solidFill>
          <a:ln w="12700">
            <a:solidFill>
              <a:srgbClr val="F4F6F8"/>
            </a:solidFill>
            <a:prstDash val="solid"/>
          </a:ln>
        </p:spPr>
      </p:sp>
      <p:sp>
        <p:nvSpPr>
          <p:cNvPr id="24" name="Shape 22"/>
          <p:cNvSpPr/>
          <p:nvPr/>
        </p:nvSpPr>
        <p:spPr>
          <a:xfrm>
            <a:off x="8016088" y="2176272"/>
            <a:ext cx="640080" cy="640080"/>
          </a:xfrm>
          <a:prstGeom prst="ellipse">
            <a:avLst/>
          </a:prstGeom>
          <a:solidFill>
            <a:srgbClr val="16A34A"/>
          </a:solidFill>
          <a:ln w="12700">
            <a:solidFill>
              <a:srgbClr val="16A34A"/>
            </a:solidFill>
            <a:prstDash val="solid"/>
          </a:ln>
        </p:spPr>
      </p:sp>
      <p:sp>
        <p:nvSpPr>
          <p:cNvPr id="25" name="Text 23"/>
          <p:cNvSpPr txBox="1"/>
          <p:nvPr/>
        </p:nvSpPr>
        <p:spPr>
          <a:xfrm>
            <a:off x="8016088" y="2176272"/>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4</a:t>
            </a:r>
            <a:endParaRPr lang="en-US" sz="2200" dirty="0"/>
          </a:p>
        </p:txBody>
      </p:sp>
      <p:sp>
        <p:nvSpPr>
          <p:cNvPr id="26" name="Text 24"/>
          <p:cNvSpPr txBox="1"/>
          <p:nvPr/>
        </p:nvSpPr>
        <p:spPr>
          <a:xfrm>
            <a:off x="7398868" y="2926080"/>
            <a:ext cx="1874520" cy="411480"/>
          </a:xfrm>
          <a:prstGeom prst="rect">
            <a:avLst/>
          </a:prstGeom>
          <a:noFill/>
          <a:ln/>
        </p:spPr>
        <p:txBody>
          <a:bodyPr wrap="square" lIns="0" tIns="0" rIns="0" bIns="0" rtlCol="0" anchor="ctr"/>
          <a:lstStyle/>
          <a:p>
            <a:pPr algn="ctr" indent="0" marL="0">
              <a:buNone/>
            </a:pPr>
            <a:r>
              <a:rPr lang="en-US" sz="1800" b="1" dirty="0">
                <a:solidFill>
                  <a:srgbClr val="1F2933"/>
                </a:solidFill>
                <a:latin typeface="Arial" pitchFamily="34" charset="0"/>
                <a:ea typeface="Arial" pitchFamily="34" charset="-122"/>
                <a:cs typeface="Arial" pitchFamily="34" charset="-120"/>
              </a:rPr>
              <a:t>Measure</a:t>
            </a:r>
            <a:endParaRPr lang="en-US" sz="1800" dirty="0"/>
          </a:p>
        </p:txBody>
      </p:sp>
      <p:sp>
        <p:nvSpPr>
          <p:cNvPr id="27" name="Text 25"/>
          <p:cNvSpPr txBox="1"/>
          <p:nvPr/>
        </p:nvSpPr>
        <p:spPr>
          <a:xfrm>
            <a:off x="7417156" y="3383280"/>
            <a:ext cx="1837944" cy="502920"/>
          </a:xfrm>
          <a:prstGeom prst="rect">
            <a:avLst/>
          </a:prstGeom>
          <a:noFill/>
          <a:ln/>
        </p:spPr>
        <p:txBody>
          <a:bodyPr wrap="square" lIns="0" tIns="0" rIns="0" bIns="0" rtlCol="0" anchor="t"/>
          <a:lstStyle/>
          <a:p>
            <a:pPr algn="ctr" indent="0" marL="0">
              <a:buNone/>
            </a:pPr>
            <a:r>
              <a:rPr lang="en-US" sz="1200" dirty="0">
                <a:solidFill>
                  <a:srgbClr val="15803D"/>
                </a:solidFill>
                <a:latin typeface="Courier New" pitchFamily="34" charset="0"/>
                <a:ea typeface="Courier New" pitchFamily="34" charset="-122"/>
                <a:cs typeface="Courier New" pitchFamily="34" charset="-120"/>
              </a:rPr>
              <a:t>FPS = 1 / Δt</a:t>
            </a:r>
            <a:endParaRPr lang="en-US" sz="1200" dirty="0"/>
          </a:p>
        </p:txBody>
      </p:sp>
      <p:sp>
        <p:nvSpPr>
          <p:cNvPr id="28" name="Text 26"/>
          <p:cNvSpPr txBox="1"/>
          <p:nvPr/>
        </p:nvSpPr>
        <p:spPr>
          <a:xfrm>
            <a:off x="7417156" y="3886200"/>
            <a:ext cx="1837944" cy="5029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Counter(labels) per frame</a:t>
            </a:r>
            <a:endParaRPr lang="en-US" sz="1300" dirty="0"/>
          </a:p>
        </p:txBody>
      </p:sp>
      <p:sp>
        <p:nvSpPr>
          <p:cNvPr id="29" name="Shape 27"/>
          <p:cNvSpPr/>
          <p:nvPr/>
        </p:nvSpPr>
        <p:spPr>
          <a:xfrm>
            <a:off x="9547708" y="1920240"/>
            <a:ext cx="2057400" cy="2560320"/>
          </a:xfrm>
          <a:prstGeom prst="rect">
            <a:avLst/>
          </a:prstGeom>
          <a:solidFill>
            <a:srgbClr val="F4F6F8"/>
          </a:solidFill>
          <a:ln w="12700">
            <a:solidFill>
              <a:srgbClr val="F4F6F8"/>
            </a:solidFill>
            <a:prstDash val="solid"/>
          </a:ln>
        </p:spPr>
      </p:sp>
      <p:sp>
        <p:nvSpPr>
          <p:cNvPr id="30" name="Shape 28"/>
          <p:cNvSpPr/>
          <p:nvPr/>
        </p:nvSpPr>
        <p:spPr>
          <a:xfrm>
            <a:off x="10256368" y="2176272"/>
            <a:ext cx="640080" cy="640080"/>
          </a:xfrm>
          <a:prstGeom prst="ellipse">
            <a:avLst/>
          </a:prstGeom>
          <a:solidFill>
            <a:srgbClr val="16A34A"/>
          </a:solidFill>
          <a:ln w="12700">
            <a:solidFill>
              <a:srgbClr val="16A34A"/>
            </a:solidFill>
            <a:prstDash val="solid"/>
          </a:ln>
        </p:spPr>
      </p:sp>
      <p:sp>
        <p:nvSpPr>
          <p:cNvPr id="31" name="Text 29"/>
          <p:cNvSpPr txBox="1"/>
          <p:nvPr/>
        </p:nvSpPr>
        <p:spPr>
          <a:xfrm>
            <a:off x="10256368" y="2176272"/>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5</a:t>
            </a:r>
            <a:endParaRPr lang="en-US" sz="2200" dirty="0"/>
          </a:p>
        </p:txBody>
      </p:sp>
      <p:sp>
        <p:nvSpPr>
          <p:cNvPr id="32" name="Text 30"/>
          <p:cNvSpPr txBox="1"/>
          <p:nvPr/>
        </p:nvSpPr>
        <p:spPr>
          <a:xfrm>
            <a:off x="9639148" y="2926080"/>
            <a:ext cx="1874520" cy="411480"/>
          </a:xfrm>
          <a:prstGeom prst="rect">
            <a:avLst/>
          </a:prstGeom>
          <a:noFill/>
          <a:ln/>
        </p:spPr>
        <p:txBody>
          <a:bodyPr wrap="square" lIns="0" tIns="0" rIns="0" bIns="0" rtlCol="0" anchor="ctr"/>
          <a:lstStyle/>
          <a:p>
            <a:pPr algn="ctr" indent="0" marL="0">
              <a:buNone/>
            </a:pPr>
            <a:r>
              <a:rPr lang="en-US" sz="1800" b="1" dirty="0">
                <a:solidFill>
                  <a:srgbClr val="1F2933"/>
                </a:solidFill>
                <a:latin typeface="Arial" pitchFamily="34" charset="0"/>
                <a:ea typeface="Arial" pitchFamily="34" charset="-122"/>
                <a:cs typeface="Arial" pitchFamily="34" charset="-120"/>
              </a:rPr>
              <a:t>Display</a:t>
            </a:r>
            <a:endParaRPr lang="en-US" sz="1800" dirty="0"/>
          </a:p>
        </p:txBody>
      </p:sp>
      <p:sp>
        <p:nvSpPr>
          <p:cNvPr id="33" name="Text 31"/>
          <p:cNvSpPr txBox="1"/>
          <p:nvPr/>
        </p:nvSpPr>
        <p:spPr>
          <a:xfrm>
            <a:off x="9657436" y="3383280"/>
            <a:ext cx="1837944" cy="502920"/>
          </a:xfrm>
          <a:prstGeom prst="rect">
            <a:avLst/>
          </a:prstGeom>
          <a:noFill/>
          <a:ln/>
        </p:spPr>
        <p:txBody>
          <a:bodyPr wrap="square" lIns="0" tIns="0" rIns="0" bIns="0" rtlCol="0" anchor="t"/>
          <a:lstStyle/>
          <a:p>
            <a:pPr algn="ctr" indent="0" marL="0">
              <a:buNone/>
            </a:pPr>
            <a:r>
              <a:rPr lang="en-US" sz="1200" dirty="0">
                <a:solidFill>
                  <a:srgbClr val="15803D"/>
                </a:solidFill>
                <a:latin typeface="Courier New" pitchFamily="34" charset="0"/>
                <a:ea typeface="Courier New" pitchFamily="34" charset="-122"/>
                <a:cs typeface="Courier New" pitchFamily="34" charset="-120"/>
              </a:rPr>
              <a:t>cvtColor BGR→RGB</a:t>
            </a:r>
            <a:endParaRPr lang="en-US" sz="1200" dirty="0"/>
          </a:p>
        </p:txBody>
      </p:sp>
      <p:sp>
        <p:nvSpPr>
          <p:cNvPr id="34" name="Text 32"/>
          <p:cNvSpPr txBox="1"/>
          <p:nvPr/>
        </p:nvSpPr>
        <p:spPr>
          <a:xfrm>
            <a:off x="9657436" y="3886200"/>
            <a:ext cx="1837944" cy="5029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st.image in a placeholder</a:t>
            </a:r>
            <a:endParaRPr lang="en-US" sz="1300" dirty="0"/>
          </a:p>
        </p:txBody>
      </p:sp>
      <p:sp>
        <p:nvSpPr>
          <p:cNvPr id="35" name="Text 33"/>
          <p:cNvSpPr txBox="1"/>
          <p:nvPr/>
        </p:nvSpPr>
        <p:spPr>
          <a:xfrm>
            <a:off x="731520" y="4892040"/>
            <a:ext cx="10728655" cy="411480"/>
          </a:xfrm>
          <a:prstGeom prst="rect">
            <a:avLst/>
          </a:prstGeom>
          <a:noFill/>
          <a:ln/>
        </p:spPr>
        <p:txBody>
          <a:bodyPr wrap="square" lIns="0" tIns="0" rIns="0" bIns="0" rtlCol="0" anchor="ctr"/>
          <a:lstStyle/>
          <a:p>
            <a:pPr indent="0" marL="0">
              <a:buNone/>
            </a:pPr>
            <a:r>
              <a:rPr lang="en-US" sz="1600" b="1" dirty="0">
                <a:solidFill>
                  <a:srgbClr val="1F2933"/>
                </a:solidFill>
                <a:latin typeface="Calibri" pitchFamily="34" charset="0"/>
                <a:ea typeface="Calibri" pitchFamily="34" charset="-122"/>
                <a:cs typeface="Calibri" pitchFamily="34" charset="-120"/>
              </a:rPr>
              <a:t>Before the loop:</a:t>
            </a:r>
            <a:pPr indent="0" marL="0">
              <a:buNone/>
            </a:pPr>
            <a:r>
              <a:rPr lang="en-US" sz="1600" dirty="0">
                <a:solidFill>
                  <a:srgbClr val="5B6675"/>
                </a:solidFill>
                <a:latin typeface="Calibri" pitchFamily="34" charset="0"/>
                <a:ea typeface="Calibri" pitchFamily="34" charset="-122"/>
                <a:cs typeface="Calibri" pitchFamily="34" charset="-120"/>
              </a:rPr>
              <a:t> model loaded once (@st.cache_resource), camera opened (error message if it fails)</a:t>
            </a:r>
            <a:endParaRPr lang="en-US" sz="1600" dirty="0"/>
          </a:p>
        </p:txBody>
      </p:sp>
      <p:sp>
        <p:nvSpPr>
          <p:cNvPr id="36" name="Text 34"/>
          <p:cNvSpPr txBox="1"/>
          <p:nvPr/>
        </p:nvSpPr>
        <p:spPr>
          <a:xfrm>
            <a:off x="731520" y="5394960"/>
            <a:ext cx="10728655" cy="411480"/>
          </a:xfrm>
          <a:prstGeom prst="rect">
            <a:avLst/>
          </a:prstGeom>
          <a:noFill/>
          <a:ln/>
        </p:spPr>
        <p:txBody>
          <a:bodyPr wrap="square" lIns="0" tIns="0" rIns="0" bIns="0" rtlCol="0" anchor="ctr"/>
          <a:lstStyle/>
          <a:p>
            <a:pPr indent="0" marL="0">
              <a:buNone/>
            </a:pPr>
            <a:r>
              <a:rPr lang="en-US" sz="1600" b="1" dirty="0">
                <a:solidFill>
                  <a:srgbClr val="1F2933"/>
                </a:solidFill>
                <a:latin typeface="Calibri" pitchFamily="34" charset="0"/>
                <a:ea typeface="Calibri" pitchFamily="34" charset="-122"/>
                <a:cs typeface="Calibri" pitchFamily="34" charset="-120"/>
              </a:rPr>
              <a:t>After the loop:</a:t>
            </a:r>
            <a:pPr indent="0" marL="0">
              <a:buNone/>
            </a:pPr>
            <a:r>
              <a:rPr lang="en-US" sz="1600" dirty="0">
                <a:solidFill>
                  <a:srgbClr val="5B6675"/>
                </a:solidFill>
                <a:latin typeface="Calibri" pitchFamily="34" charset="0"/>
                <a:ea typeface="Calibri" pitchFamily="34" charset="-122"/>
                <a:cs typeface="Calibri" pitchFamily="34" charset="-120"/>
              </a:rPr>
              <a:t> switching the toggle off stops the script and cap.release() frees the webcam</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900684" cy="310896"/>
          </a:xfrm>
          <a:prstGeom prst="rect">
            <a:avLst/>
          </a:prstGeom>
          <a:solidFill>
            <a:srgbClr val="16A34A"/>
          </a:solidFill>
          <a:ln w="12700">
            <a:solidFill>
              <a:srgbClr val="16A34A"/>
            </a:solidFill>
            <a:prstDash val="solid"/>
          </a:ln>
        </p:spPr>
      </p:sp>
      <p:sp>
        <p:nvSpPr>
          <p:cNvPr id="3" name="Text 1"/>
          <p:cNvSpPr txBox="1"/>
          <p:nvPr/>
        </p:nvSpPr>
        <p:spPr>
          <a:xfrm>
            <a:off x="548640" y="411480"/>
            <a:ext cx="900684" cy="310896"/>
          </a:xfrm>
          <a:prstGeom prst="rect">
            <a:avLst/>
          </a:prstGeom>
          <a:noFill/>
          <a:ln/>
        </p:spPr>
        <p:txBody>
          <a:bodyPr wrap="none" lIns="0" tIns="0" rIns="0" bIns="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TOOLS</a:t>
            </a:r>
            <a:endParaRPr lang="en-US" sz="1100" dirty="0"/>
          </a:p>
        </p:txBody>
      </p:sp>
      <p:sp>
        <p:nvSpPr>
          <p:cNvPr id="4" name="Text 2"/>
          <p:cNvSpPr txBox="1"/>
          <p:nvPr/>
        </p:nvSpPr>
        <p:spPr>
          <a:xfrm>
            <a:off x="548640" y="777240"/>
            <a:ext cx="11094415" cy="777240"/>
          </a:xfrm>
          <a:prstGeom prst="rect">
            <a:avLst/>
          </a:prstGeom>
          <a:noFill/>
          <a:ln/>
        </p:spPr>
        <p:txBody>
          <a:bodyPr wrap="square" lIns="0" tIns="0" rIns="0" bIns="0" rtlCol="0" anchor="ctr"/>
          <a:lstStyle/>
          <a:p>
            <a:pPr indent="0" marL="0">
              <a:buNone/>
            </a:pPr>
            <a:r>
              <a:rPr lang="en-US" sz="3400" b="1" dirty="0">
                <a:solidFill>
                  <a:srgbClr val="1F2933"/>
                </a:solidFill>
                <a:latin typeface="Arial" pitchFamily="34" charset="0"/>
                <a:ea typeface="Arial" pitchFamily="34" charset="-122"/>
                <a:cs typeface="Arial" pitchFamily="34" charset="-120"/>
              </a:rPr>
              <a:t>Technologies Used</a:t>
            </a:r>
            <a:endParaRPr lang="en-US" sz="3400" dirty="0"/>
          </a:p>
        </p:txBody>
      </p:sp>
      <p:sp>
        <p:nvSpPr>
          <p:cNvPr id="5" name="Shape 3"/>
          <p:cNvSpPr/>
          <p:nvPr/>
        </p:nvSpPr>
        <p:spPr>
          <a:xfrm>
            <a:off x="548640" y="1828800"/>
            <a:ext cx="5394960" cy="1417320"/>
          </a:xfrm>
          <a:prstGeom prst="rect">
            <a:avLst/>
          </a:prstGeom>
          <a:solidFill>
            <a:srgbClr val="F4F6F8"/>
          </a:solidFill>
          <a:ln w="12700">
            <a:solidFill>
              <a:srgbClr val="F4F6F8"/>
            </a:solidFill>
            <a:prstDash val="solid"/>
          </a:ln>
        </p:spPr>
      </p:sp>
      <p:sp>
        <p:nvSpPr>
          <p:cNvPr id="6" name="Shape 4"/>
          <p:cNvSpPr/>
          <p:nvPr/>
        </p:nvSpPr>
        <p:spPr>
          <a:xfrm>
            <a:off x="822960" y="2148840"/>
            <a:ext cx="777240" cy="777240"/>
          </a:xfrm>
          <a:prstGeom prst="ellipse">
            <a:avLst/>
          </a:prstGeom>
          <a:solidFill>
            <a:srgbClr val="FFFFFF"/>
          </a:solidFill>
          <a:ln w="12700">
            <a:solidFill>
              <a:srgbClr val="FFFFFF"/>
            </a:solidFill>
            <a:prstDash val="solid"/>
          </a:ln>
        </p:spPr>
      </p:sp>
      <p:pic>
        <p:nvPicPr>
          <p:cNvPr id="7" name="Image 0" descr="preencoded.png">    </p:cNvPr>
          <p:cNvPicPr>
            <a:picLocks noChangeAspect="1"/>
          </p:cNvPicPr>
          <p:nvPr/>
        </p:nvPicPr>
        <p:blipFill>
          <a:blip r:embed="rId1"/>
          <a:stretch>
            <a:fillRect/>
          </a:stretch>
        </p:blipFill>
        <p:spPr>
          <a:xfrm>
            <a:off x="1017270" y="2343150"/>
            <a:ext cx="388620" cy="388620"/>
          </a:xfrm>
          <a:prstGeom prst="rect">
            <a:avLst/>
          </a:prstGeom>
        </p:spPr>
      </p:pic>
      <p:sp>
        <p:nvSpPr>
          <p:cNvPr id="8" name="Text 5"/>
          <p:cNvSpPr txBox="1"/>
          <p:nvPr/>
        </p:nvSpPr>
        <p:spPr>
          <a:xfrm>
            <a:off x="1828800" y="2057400"/>
            <a:ext cx="3931920" cy="411480"/>
          </a:xfrm>
          <a:prstGeom prst="rect">
            <a:avLst/>
          </a:prstGeom>
          <a:noFill/>
          <a:ln/>
        </p:spPr>
        <p:txBody>
          <a:bodyPr wrap="square" lIns="0" tIns="0" rIns="0" bIns="0" rtlCol="0" anchor="ctr"/>
          <a:lstStyle/>
          <a:p>
            <a:pPr indent="0" marL="0">
              <a:buNone/>
            </a:pPr>
            <a:r>
              <a:rPr lang="en-US" sz="1900" b="1" dirty="0">
                <a:solidFill>
                  <a:srgbClr val="1F2933"/>
                </a:solidFill>
                <a:latin typeface="Arial" pitchFamily="34" charset="0"/>
                <a:ea typeface="Arial" pitchFamily="34" charset="-122"/>
                <a:cs typeface="Arial" pitchFamily="34" charset="-120"/>
              </a:rPr>
              <a:t>Python 3.11</a:t>
            </a:r>
            <a:endParaRPr lang="en-US" sz="1900" dirty="0"/>
          </a:p>
        </p:txBody>
      </p:sp>
      <p:sp>
        <p:nvSpPr>
          <p:cNvPr id="9" name="Text 6"/>
          <p:cNvSpPr txBox="1"/>
          <p:nvPr/>
        </p:nvSpPr>
        <p:spPr>
          <a:xfrm>
            <a:off x="1828800" y="2487168"/>
            <a:ext cx="3931920" cy="548640"/>
          </a:xfrm>
          <a:prstGeom prst="rect">
            <a:avLst/>
          </a:prstGeom>
          <a:noFill/>
          <a:ln/>
        </p:spPr>
        <p:txBody>
          <a:bodyPr wrap="square" lIns="0" tIns="0" rIns="0" bIns="0" rtlCol="0" anchor="t"/>
          <a:lstStyle/>
          <a:p>
            <a:pPr indent="0" marL="0">
              <a:buNone/>
            </a:pPr>
            <a:r>
              <a:rPr lang="en-US" sz="1500" dirty="0">
                <a:solidFill>
                  <a:srgbClr val="5B6675"/>
                </a:solidFill>
                <a:latin typeface="Calibri" pitchFamily="34" charset="0"/>
                <a:ea typeface="Calibri" pitchFamily="34" charset="-122"/>
                <a:cs typeface="Calibri" pitchFamily="34" charset="-120"/>
              </a:rPr>
              <a:t>Programming language for the whole project</a:t>
            </a:r>
            <a:endParaRPr lang="en-US" sz="1500" dirty="0"/>
          </a:p>
        </p:txBody>
      </p:sp>
      <p:sp>
        <p:nvSpPr>
          <p:cNvPr id="10" name="Shape 7"/>
          <p:cNvSpPr/>
          <p:nvPr/>
        </p:nvSpPr>
        <p:spPr>
          <a:xfrm>
            <a:off x="6263640" y="1828800"/>
            <a:ext cx="5394960" cy="1417320"/>
          </a:xfrm>
          <a:prstGeom prst="rect">
            <a:avLst/>
          </a:prstGeom>
          <a:solidFill>
            <a:srgbClr val="F4F6F8"/>
          </a:solidFill>
          <a:ln w="12700">
            <a:solidFill>
              <a:srgbClr val="F4F6F8"/>
            </a:solidFill>
            <a:prstDash val="solid"/>
          </a:ln>
        </p:spPr>
      </p:sp>
      <p:sp>
        <p:nvSpPr>
          <p:cNvPr id="11" name="Shape 8"/>
          <p:cNvSpPr/>
          <p:nvPr/>
        </p:nvSpPr>
        <p:spPr>
          <a:xfrm>
            <a:off x="6537960" y="2148840"/>
            <a:ext cx="777240" cy="777240"/>
          </a:xfrm>
          <a:prstGeom prst="ellipse">
            <a:avLst/>
          </a:prstGeom>
          <a:solidFill>
            <a:srgbClr val="FFFFFF"/>
          </a:solidFill>
          <a:ln w="12700">
            <a:solidFill>
              <a:srgbClr val="FFFFFF"/>
            </a:solidFill>
            <a:prstDash val="solid"/>
          </a:ln>
        </p:spPr>
      </p:sp>
      <p:pic>
        <p:nvPicPr>
          <p:cNvPr id="12" name="Image 1" descr="preencoded.png">    </p:cNvPr>
          <p:cNvPicPr>
            <a:picLocks noChangeAspect="1"/>
          </p:cNvPicPr>
          <p:nvPr/>
        </p:nvPicPr>
        <p:blipFill>
          <a:blip r:embed="rId2"/>
          <a:stretch>
            <a:fillRect/>
          </a:stretch>
        </p:blipFill>
        <p:spPr>
          <a:xfrm>
            <a:off x="6732270" y="2343150"/>
            <a:ext cx="388620" cy="388620"/>
          </a:xfrm>
          <a:prstGeom prst="rect">
            <a:avLst/>
          </a:prstGeom>
        </p:spPr>
      </p:pic>
      <p:sp>
        <p:nvSpPr>
          <p:cNvPr id="13" name="Text 9"/>
          <p:cNvSpPr txBox="1"/>
          <p:nvPr/>
        </p:nvSpPr>
        <p:spPr>
          <a:xfrm>
            <a:off x="7543800" y="2057400"/>
            <a:ext cx="3931920" cy="411480"/>
          </a:xfrm>
          <a:prstGeom prst="rect">
            <a:avLst/>
          </a:prstGeom>
          <a:noFill/>
          <a:ln/>
        </p:spPr>
        <p:txBody>
          <a:bodyPr wrap="square" lIns="0" tIns="0" rIns="0" bIns="0" rtlCol="0" anchor="ctr"/>
          <a:lstStyle/>
          <a:p>
            <a:pPr indent="0" marL="0">
              <a:buNone/>
            </a:pPr>
            <a:r>
              <a:rPr lang="en-US" sz="1900" b="1" dirty="0">
                <a:solidFill>
                  <a:srgbClr val="1F2933"/>
                </a:solidFill>
                <a:latin typeface="Arial" pitchFamily="34" charset="0"/>
                <a:ea typeface="Arial" pitchFamily="34" charset="-122"/>
                <a:cs typeface="Arial" pitchFamily="34" charset="-120"/>
              </a:rPr>
              <a:t>OpenCV 5.0</a:t>
            </a:r>
            <a:endParaRPr lang="en-US" sz="1900" dirty="0"/>
          </a:p>
        </p:txBody>
      </p:sp>
      <p:sp>
        <p:nvSpPr>
          <p:cNvPr id="14" name="Text 10"/>
          <p:cNvSpPr txBox="1"/>
          <p:nvPr/>
        </p:nvSpPr>
        <p:spPr>
          <a:xfrm>
            <a:off x="7543800" y="2487168"/>
            <a:ext cx="3931920" cy="548640"/>
          </a:xfrm>
          <a:prstGeom prst="rect">
            <a:avLst/>
          </a:prstGeom>
          <a:noFill/>
          <a:ln/>
        </p:spPr>
        <p:txBody>
          <a:bodyPr wrap="square" lIns="0" tIns="0" rIns="0" bIns="0" rtlCol="0" anchor="t"/>
          <a:lstStyle/>
          <a:p>
            <a:pPr indent="0" marL="0">
              <a:buNone/>
            </a:pPr>
            <a:r>
              <a:rPr lang="en-US" sz="1500" dirty="0">
                <a:solidFill>
                  <a:srgbClr val="5B6675"/>
                </a:solidFill>
                <a:latin typeface="Calibri" pitchFamily="34" charset="0"/>
                <a:ea typeface="Calibri" pitchFamily="34" charset="-122"/>
                <a:cs typeface="Calibri" pitchFamily="34" charset="-120"/>
              </a:rPr>
              <a:t>Webcam capture, drawing boxes and text, BGR→RGB conversion</a:t>
            </a:r>
            <a:endParaRPr lang="en-US" sz="1500" dirty="0"/>
          </a:p>
        </p:txBody>
      </p:sp>
      <p:sp>
        <p:nvSpPr>
          <p:cNvPr id="15" name="Shape 11"/>
          <p:cNvSpPr/>
          <p:nvPr/>
        </p:nvSpPr>
        <p:spPr>
          <a:xfrm>
            <a:off x="548640" y="3520440"/>
            <a:ext cx="5394960" cy="1417320"/>
          </a:xfrm>
          <a:prstGeom prst="rect">
            <a:avLst/>
          </a:prstGeom>
          <a:solidFill>
            <a:srgbClr val="F4F6F8"/>
          </a:solidFill>
          <a:ln w="12700">
            <a:solidFill>
              <a:srgbClr val="F4F6F8"/>
            </a:solidFill>
            <a:prstDash val="solid"/>
          </a:ln>
        </p:spPr>
      </p:sp>
      <p:sp>
        <p:nvSpPr>
          <p:cNvPr id="16" name="Shape 12"/>
          <p:cNvSpPr/>
          <p:nvPr/>
        </p:nvSpPr>
        <p:spPr>
          <a:xfrm>
            <a:off x="822960" y="3840480"/>
            <a:ext cx="777240" cy="777240"/>
          </a:xfrm>
          <a:prstGeom prst="ellipse">
            <a:avLst/>
          </a:prstGeom>
          <a:solidFill>
            <a:srgbClr val="FFFFFF"/>
          </a:solidFill>
          <a:ln w="12700">
            <a:solidFill>
              <a:srgbClr val="FFFFFF"/>
            </a:solidFill>
            <a:prstDash val="solid"/>
          </a:ln>
        </p:spPr>
      </p:sp>
      <p:pic>
        <p:nvPicPr>
          <p:cNvPr id="17" name="Image 2" descr="preencoded.png">    </p:cNvPr>
          <p:cNvPicPr>
            <a:picLocks noChangeAspect="1"/>
          </p:cNvPicPr>
          <p:nvPr/>
        </p:nvPicPr>
        <p:blipFill>
          <a:blip r:embed="rId3"/>
          <a:stretch>
            <a:fillRect/>
          </a:stretch>
        </p:blipFill>
        <p:spPr>
          <a:xfrm>
            <a:off x="1017270" y="4034790"/>
            <a:ext cx="388620" cy="388620"/>
          </a:xfrm>
          <a:prstGeom prst="rect">
            <a:avLst/>
          </a:prstGeom>
        </p:spPr>
      </p:pic>
      <p:sp>
        <p:nvSpPr>
          <p:cNvPr id="18" name="Text 13"/>
          <p:cNvSpPr txBox="1"/>
          <p:nvPr/>
        </p:nvSpPr>
        <p:spPr>
          <a:xfrm>
            <a:off x="1828800" y="3749040"/>
            <a:ext cx="3931920" cy="411480"/>
          </a:xfrm>
          <a:prstGeom prst="rect">
            <a:avLst/>
          </a:prstGeom>
          <a:noFill/>
          <a:ln/>
        </p:spPr>
        <p:txBody>
          <a:bodyPr wrap="square" lIns="0" tIns="0" rIns="0" bIns="0" rtlCol="0" anchor="ctr"/>
          <a:lstStyle/>
          <a:p>
            <a:pPr indent="0" marL="0">
              <a:buNone/>
            </a:pPr>
            <a:r>
              <a:rPr lang="en-US" sz="1900" b="1" dirty="0">
                <a:solidFill>
                  <a:srgbClr val="1F2933"/>
                </a:solidFill>
                <a:latin typeface="Arial" pitchFamily="34" charset="0"/>
                <a:ea typeface="Arial" pitchFamily="34" charset="-122"/>
                <a:cs typeface="Arial" pitchFamily="34" charset="-120"/>
              </a:rPr>
              <a:t>Ultralytics 8.4</a:t>
            </a:r>
            <a:endParaRPr lang="en-US" sz="1900" dirty="0"/>
          </a:p>
        </p:txBody>
      </p:sp>
      <p:sp>
        <p:nvSpPr>
          <p:cNvPr id="19" name="Text 14"/>
          <p:cNvSpPr txBox="1"/>
          <p:nvPr/>
        </p:nvSpPr>
        <p:spPr>
          <a:xfrm>
            <a:off x="1828800" y="4178808"/>
            <a:ext cx="3931920" cy="548640"/>
          </a:xfrm>
          <a:prstGeom prst="rect">
            <a:avLst/>
          </a:prstGeom>
          <a:noFill/>
          <a:ln/>
        </p:spPr>
        <p:txBody>
          <a:bodyPr wrap="square" lIns="0" tIns="0" rIns="0" bIns="0" rtlCol="0" anchor="t"/>
          <a:lstStyle/>
          <a:p>
            <a:pPr indent="0" marL="0">
              <a:buNone/>
            </a:pPr>
            <a:r>
              <a:rPr lang="en-US" sz="1500" dirty="0">
                <a:solidFill>
                  <a:srgbClr val="5B6675"/>
                </a:solidFill>
                <a:latin typeface="Calibri" pitchFamily="34" charset="0"/>
                <a:ea typeface="Calibri" pitchFamily="34" charset="-122"/>
                <a:cs typeface="Calibri" pitchFamily="34" charset="-120"/>
              </a:rPr>
              <a:t>Loads the pretrained YOLO11n model and downloads its weights</a:t>
            </a:r>
            <a:endParaRPr lang="en-US" sz="1500" dirty="0"/>
          </a:p>
        </p:txBody>
      </p:sp>
      <p:sp>
        <p:nvSpPr>
          <p:cNvPr id="20" name="Shape 15"/>
          <p:cNvSpPr/>
          <p:nvPr/>
        </p:nvSpPr>
        <p:spPr>
          <a:xfrm>
            <a:off x="6263640" y="3520440"/>
            <a:ext cx="5394960" cy="1417320"/>
          </a:xfrm>
          <a:prstGeom prst="rect">
            <a:avLst/>
          </a:prstGeom>
          <a:solidFill>
            <a:srgbClr val="F4F6F8"/>
          </a:solidFill>
          <a:ln w="12700">
            <a:solidFill>
              <a:srgbClr val="F4F6F8"/>
            </a:solidFill>
            <a:prstDash val="solid"/>
          </a:ln>
        </p:spPr>
      </p:sp>
      <p:sp>
        <p:nvSpPr>
          <p:cNvPr id="21" name="Shape 16"/>
          <p:cNvSpPr/>
          <p:nvPr/>
        </p:nvSpPr>
        <p:spPr>
          <a:xfrm>
            <a:off x="6537960" y="3840480"/>
            <a:ext cx="777240" cy="777240"/>
          </a:xfrm>
          <a:prstGeom prst="ellipse">
            <a:avLst/>
          </a:prstGeom>
          <a:solidFill>
            <a:srgbClr val="FFFFFF"/>
          </a:solidFill>
          <a:ln w="12700">
            <a:solidFill>
              <a:srgbClr val="FFFFFF"/>
            </a:solidFill>
            <a:prstDash val="solid"/>
          </a:ln>
        </p:spPr>
      </p:sp>
      <p:pic>
        <p:nvPicPr>
          <p:cNvPr id="22" name="Image 3" descr="preencoded.png">    </p:cNvPr>
          <p:cNvPicPr>
            <a:picLocks noChangeAspect="1"/>
          </p:cNvPicPr>
          <p:nvPr/>
        </p:nvPicPr>
        <p:blipFill>
          <a:blip r:embed="rId4"/>
          <a:stretch>
            <a:fillRect/>
          </a:stretch>
        </p:blipFill>
        <p:spPr>
          <a:xfrm>
            <a:off x="6732270" y="4034790"/>
            <a:ext cx="388620" cy="388620"/>
          </a:xfrm>
          <a:prstGeom prst="rect">
            <a:avLst/>
          </a:prstGeom>
        </p:spPr>
      </p:pic>
      <p:sp>
        <p:nvSpPr>
          <p:cNvPr id="23" name="Text 17"/>
          <p:cNvSpPr txBox="1"/>
          <p:nvPr/>
        </p:nvSpPr>
        <p:spPr>
          <a:xfrm>
            <a:off x="7543800" y="3749040"/>
            <a:ext cx="3931920" cy="411480"/>
          </a:xfrm>
          <a:prstGeom prst="rect">
            <a:avLst/>
          </a:prstGeom>
          <a:noFill/>
          <a:ln/>
        </p:spPr>
        <p:txBody>
          <a:bodyPr wrap="square" lIns="0" tIns="0" rIns="0" bIns="0" rtlCol="0" anchor="ctr"/>
          <a:lstStyle/>
          <a:p>
            <a:pPr indent="0" marL="0">
              <a:buNone/>
            </a:pPr>
            <a:r>
              <a:rPr lang="en-US" sz="1900" b="1" dirty="0">
                <a:solidFill>
                  <a:srgbClr val="1F2933"/>
                </a:solidFill>
                <a:latin typeface="Arial" pitchFamily="34" charset="0"/>
                <a:ea typeface="Arial" pitchFamily="34" charset="-122"/>
                <a:cs typeface="Arial" pitchFamily="34" charset="-120"/>
              </a:rPr>
              <a:t>Streamlit 1.64</a:t>
            </a:r>
            <a:endParaRPr lang="en-US" sz="1900" dirty="0"/>
          </a:p>
        </p:txBody>
      </p:sp>
      <p:sp>
        <p:nvSpPr>
          <p:cNvPr id="24" name="Text 18"/>
          <p:cNvSpPr txBox="1"/>
          <p:nvPr/>
        </p:nvSpPr>
        <p:spPr>
          <a:xfrm>
            <a:off x="7543800" y="4178808"/>
            <a:ext cx="3931920" cy="548640"/>
          </a:xfrm>
          <a:prstGeom prst="rect">
            <a:avLst/>
          </a:prstGeom>
          <a:noFill/>
          <a:ln/>
        </p:spPr>
        <p:txBody>
          <a:bodyPr wrap="square" lIns="0" tIns="0" rIns="0" bIns="0" rtlCol="0" anchor="t"/>
          <a:lstStyle/>
          <a:p>
            <a:pPr indent="0" marL="0">
              <a:buNone/>
            </a:pPr>
            <a:r>
              <a:rPr lang="en-US" sz="1500" dirty="0">
                <a:solidFill>
                  <a:srgbClr val="5B6675"/>
                </a:solidFill>
                <a:latin typeface="Calibri" pitchFamily="34" charset="0"/>
                <a:ea typeface="Calibri" pitchFamily="34" charset="-122"/>
                <a:cs typeface="Calibri" pitchFamily="34" charset="-120"/>
              </a:rPr>
              <a:t>Very basic web UI written only in Python</a:t>
            </a:r>
            <a:endParaRPr lang="en-US" sz="1500" dirty="0"/>
          </a:p>
        </p:txBody>
      </p:sp>
      <p:sp>
        <p:nvSpPr>
          <p:cNvPr id="25" name="Text 19"/>
          <p:cNvSpPr txBox="1"/>
          <p:nvPr/>
        </p:nvSpPr>
        <p:spPr>
          <a:xfrm>
            <a:off x="548640" y="5349240"/>
            <a:ext cx="11094415" cy="365760"/>
          </a:xfrm>
          <a:prstGeom prst="rect">
            <a:avLst/>
          </a:prstGeom>
          <a:noFill/>
          <a:ln/>
        </p:spPr>
        <p:txBody>
          <a:bodyPr wrap="square" lIns="0" tIns="0" rIns="0" bIns="0" rtlCol="0" anchor="ctr"/>
          <a:lstStyle/>
          <a:p>
            <a:pPr indent="0" marL="0">
              <a:buNone/>
            </a:pPr>
            <a:r>
              <a:rPr lang="en-US" sz="1500" b="1" dirty="0">
                <a:solidFill>
                  <a:srgbClr val="1F2933"/>
                </a:solidFill>
                <a:latin typeface="Calibri" pitchFamily="34" charset="0"/>
                <a:ea typeface="Calibri" pitchFamily="34" charset="-122"/>
                <a:cs typeface="Calibri" pitchFamily="34" charset="-120"/>
              </a:rPr>
              <a:t>Also: </a:t>
            </a:r>
            <a:pPr indent="0" marL="0">
              <a:buNone/>
            </a:pPr>
            <a:r>
              <a:rPr lang="en-US" sz="1500" dirty="0">
                <a:solidFill>
                  <a:srgbClr val="5B6675"/>
                </a:solidFill>
                <a:latin typeface="Calibri" pitchFamily="34" charset="0"/>
                <a:ea typeface="Calibri" pitchFamily="34" charset="-122"/>
                <a:cs typeface="Calibri" pitchFamily="34" charset="-120"/>
              </a:rPr>
              <a:t>PyTorch 2.14 runs the network (installed with Ultralytics), NumPy decodes uploaded images.</a:t>
            </a:r>
            <a:endParaRPr lang="en-US" sz="1500" dirty="0"/>
          </a:p>
        </p:txBody>
      </p:sp>
      <p:sp>
        <p:nvSpPr>
          <p:cNvPr id="26" name="Text 20"/>
          <p:cNvSpPr txBox="1"/>
          <p:nvPr/>
        </p:nvSpPr>
        <p:spPr>
          <a:xfrm>
            <a:off x="548640" y="5760720"/>
            <a:ext cx="11094415" cy="365760"/>
          </a:xfrm>
          <a:prstGeom prst="rect">
            <a:avLst/>
          </a:prstGeom>
          <a:noFill/>
          <a:ln/>
        </p:spPr>
        <p:txBody>
          <a:bodyPr wrap="square" lIns="0" tIns="0" rIns="0" bIns="0" rtlCol="0" anchor="ctr"/>
          <a:lstStyle/>
          <a:p>
            <a:pPr indent="0" marL="0">
              <a:buNone/>
            </a:pPr>
            <a:r>
              <a:rPr lang="en-US" sz="1500" b="1" dirty="0">
                <a:solidFill>
                  <a:srgbClr val="D97706"/>
                </a:solidFill>
                <a:latin typeface="Calibri" pitchFamily="34" charset="0"/>
                <a:ea typeface="Calibri" pitchFamily="34" charset="-122"/>
                <a:cs typeface="Calibri" pitchFamily="34" charset="-120"/>
              </a:rPr>
              <a:t>Not used: </a:t>
            </a:r>
            <a:pPr indent="0" marL="0">
              <a:buNone/>
            </a:pPr>
            <a:r>
              <a:rPr lang="en-US" sz="1500" dirty="0">
                <a:solidFill>
                  <a:srgbClr val="5B6675"/>
                </a:solidFill>
                <a:latin typeface="Calibri" pitchFamily="34" charset="0"/>
                <a:ea typeface="Calibri" pitchFamily="34" charset="-122"/>
                <a:cs typeface="Calibri" pitchFamily="34" charset="-120"/>
              </a:rPr>
              <a:t>FastAPI/Flask, databases, React, Docker, cloud services, model training.</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1929384" cy="310896"/>
          </a:xfrm>
          <a:prstGeom prst="rect">
            <a:avLst/>
          </a:prstGeom>
          <a:solidFill>
            <a:srgbClr val="16A34A"/>
          </a:solidFill>
          <a:ln w="12700">
            <a:solidFill>
              <a:srgbClr val="16A34A"/>
            </a:solidFill>
            <a:prstDash val="solid"/>
          </a:ln>
        </p:spPr>
      </p:sp>
      <p:sp>
        <p:nvSpPr>
          <p:cNvPr id="3" name="Text 1"/>
          <p:cNvSpPr txBox="1"/>
          <p:nvPr/>
        </p:nvSpPr>
        <p:spPr>
          <a:xfrm>
            <a:off x="548640" y="411480"/>
            <a:ext cx="1929384" cy="310896"/>
          </a:xfrm>
          <a:prstGeom prst="rect">
            <a:avLst/>
          </a:prstGeom>
          <a:noFill/>
          <a:ln/>
        </p:spPr>
        <p:txBody>
          <a:bodyPr wrap="none" lIns="0" tIns="0" rIns="0" bIns="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IMPLEMENTATION</a:t>
            </a:r>
            <a:endParaRPr lang="en-US" sz="1100" dirty="0"/>
          </a:p>
        </p:txBody>
      </p:sp>
      <p:sp>
        <p:nvSpPr>
          <p:cNvPr id="4" name="Text 2"/>
          <p:cNvSpPr txBox="1"/>
          <p:nvPr/>
        </p:nvSpPr>
        <p:spPr>
          <a:xfrm>
            <a:off x="548640" y="777240"/>
            <a:ext cx="11094415" cy="777240"/>
          </a:xfrm>
          <a:prstGeom prst="rect">
            <a:avLst/>
          </a:prstGeom>
          <a:noFill/>
          <a:ln/>
        </p:spPr>
        <p:txBody>
          <a:bodyPr wrap="square" lIns="0" tIns="0" rIns="0" bIns="0" rtlCol="0" anchor="ctr"/>
          <a:lstStyle/>
          <a:p>
            <a:pPr indent="0" marL="0">
              <a:buNone/>
            </a:pPr>
            <a:r>
              <a:rPr lang="en-US" sz="3400" b="1" dirty="0">
                <a:solidFill>
                  <a:srgbClr val="1F2933"/>
                </a:solidFill>
                <a:latin typeface="Arial" pitchFamily="34" charset="0"/>
                <a:ea typeface="Arial" pitchFamily="34" charset="-122"/>
                <a:cs typeface="Arial" pitchFamily="34" charset="-120"/>
              </a:rPr>
              <a:t>Implementation and User Interface</a:t>
            </a:r>
            <a:endParaRPr lang="en-US" sz="3400" dirty="0"/>
          </a:p>
        </p:txBody>
      </p:sp>
      <p:pic>
        <p:nvPicPr>
          <p:cNvPr id="5" name="Image 0" descr="/Users/SmitT/Desktop/objectdetectionusingyolo/Real-Time-Object-Detection-YOLO/outputs/screenshots/02_webcam_live_detection.png">    </p:cNvPr>
          <p:cNvPicPr>
            <a:picLocks noChangeAspect="1"/>
          </p:cNvPicPr>
          <p:nvPr/>
        </p:nvPicPr>
        <p:blipFill>
          <a:blip r:embed="rId1"/>
          <a:stretch>
            <a:fillRect/>
          </a:stretch>
        </p:blipFill>
        <p:spPr>
          <a:xfrm>
            <a:off x="658368" y="1874520"/>
            <a:ext cx="6766560" cy="4108269"/>
          </a:xfrm>
          <a:prstGeom prst="rect">
            <a:avLst/>
          </a:prstGeom>
        </p:spPr>
      </p:pic>
      <p:sp>
        <p:nvSpPr>
          <p:cNvPr id="6" name="Shape 3"/>
          <p:cNvSpPr/>
          <p:nvPr/>
        </p:nvSpPr>
        <p:spPr>
          <a:xfrm>
            <a:off x="548640" y="1764792"/>
            <a:ext cx="292608" cy="0"/>
          </a:xfrm>
          <a:prstGeom prst="line">
            <a:avLst/>
          </a:prstGeom>
          <a:noFill/>
          <a:ln w="38100">
            <a:solidFill>
              <a:srgbClr val="16A34A"/>
            </a:solidFill>
            <a:prstDash val="solid"/>
          </a:ln>
        </p:spPr>
      </p:sp>
      <p:sp>
        <p:nvSpPr>
          <p:cNvPr id="7" name="Shape 4"/>
          <p:cNvSpPr/>
          <p:nvPr/>
        </p:nvSpPr>
        <p:spPr>
          <a:xfrm>
            <a:off x="548640" y="1764792"/>
            <a:ext cx="0" cy="292608"/>
          </a:xfrm>
          <a:prstGeom prst="line">
            <a:avLst/>
          </a:prstGeom>
          <a:noFill/>
          <a:ln w="38100">
            <a:solidFill>
              <a:srgbClr val="16A34A"/>
            </a:solidFill>
            <a:prstDash val="solid"/>
          </a:ln>
        </p:spPr>
      </p:sp>
      <p:sp>
        <p:nvSpPr>
          <p:cNvPr id="8" name="Shape 5"/>
          <p:cNvSpPr/>
          <p:nvPr/>
        </p:nvSpPr>
        <p:spPr>
          <a:xfrm>
            <a:off x="7242048" y="1764792"/>
            <a:ext cx="292608" cy="0"/>
          </a:xfrm>
          <a:prstGeom prst="line">
            <a:avLst/>
          </a:prstGeom>
          <a:noFill/>
          <a:ln w="38100">
            <a:solidFill>
              <a:srgbClr val="16A34A"/>
            </a:solidFill>
            <a:prstDash val="solid"/>
          </a:ln>
        </p:spPr>
      </p:sp>
      <p:sp>
        <p:nvSpPr>
          <p:cNvPr id="9" name="Shape 6"/>
          <p:cNvSpPr/>
          <p:nvPr/>
        </p:nvSpPr>
        <p:spPr>
          <a:xfrm>
            <a:off x="7534656" y="1764792"/>
            <a:ext cx="0" cy="292608"/>
          </a:xfrm>
          <a:prstGeom prst="line">
            <a:avLst/>
          </a:prstGeom>
          <a:noFill/>
          <a:ln w="38100">
            <a:solidFill>
              <a:srgbClr val="16A34A"/>
            </a:solidFill>
            <a:prstDash val="solid"/>
          </a:ln>
        </p:spPr>
      </p:sp>
      <p:sp>
        <p:nvSpPr>
          <p:cNvPr id="10" name="Shape 7"/>
          <p:cNvSpPr/>
          <p:nvPr/>
        </p:nvSpPr>
        <p:spPr>
          <a:xfrm>
            <a:off x="548640" y="6092517"/>
            <a:ext cx="292608" cy="0"/>
          </a:xfrm>
          <a:prstGeom prst="line">
            <a:avLst/>
          </a:prstGeom>
          <a:noFill/>
          <a:ln w="38100">
            <a:solidFill>
              <a:srgbClr val="16A34A"/>
            </a:solidFill>
            <a:prstDash val="solid"/>
          </a:ln>
        </p:spPr>
      </p:sp>
      <p:sp>
        <p:nvSpPr>
          <p:cNvPr id="11" name="Shape 8"/>
          <p:cNvSpPr/>
          <p:nvPr/>
        </p:nvSpPr>
        <p:spPr>
          <a:xfrm>
            <a:off x="548640" y="5799909"/>
            <a:ext cx="0" cy="292608"/>
          </a:xfrm>
          <a:prstGeom prst="line">
            <a:avLst/>
          </a:prstGeom>
          <a:noFill/>
          <a:ln w="38100">
            <a:solidFill>
              <a:srgbClr val="16A34A"/>
            </a:solidFill>
            <a:prstDash val="solid"/>
          </a:ln>
        </p:spPr>
      </p:sp>
      <p:sp>
        <p:nvSpPr>
          <p:cNvPr id="12" name="Shape 9"/>
          <p:cNvSpPr/>
          <p:nvPr/>
        </p:nvSpPr>
        <p:spPr>
          <a:xfrm>
            <a:off x="7242048" y="6092517"/>
            <a:ext cx="292608" cy="0"/>
          </a:xfrm>
          <a:prstGeom prst="line">
            <a:avLst/>
          </a:prstGeom>
          <a:noFill/>
          <a:ln w="38100">
            <a:solidFill>
              <a:srgbClr val="16A34A"/>
            </a:solidFill>
            <a:prstDash val="solid"/>
          </a:ln>
        </p:spPr>
      </p:sp>
      <p:sp>
        <p:nvSpPr>
          <p:cNvPr id="13" name="Shape 10"/>
          <p:cNvSpPr/>
          <p:nvPr/>
        </p:nvSpPr>
        <p:spPr>
          <a:xfrm>
            <a:off x="7534656" y="5799909"/>
            <a:ext cx="0" cy="292608"/>
          </a:xfrm>
          <a:prstGeom prst="line">
            <a:avLst/>
          </a:prstGeom>
          <a:noFill/>
          <a:ln w="38100">
            <a:solidFill>
              <a:srgbClr val="16A34A"/>
            </a:solidFill>
            <a:prstDash val="solid"/>
          </a:ln>
        </p:spPr>
      </p:sp>
      <p:sp>
        <p:nvSpPr>
          <p:cNvPr id="14" name="Text 11"/>
          <p:cNvSpPr txBox="1"/>
          <p:nvPr/>
        </p:nvSpPr>
        <p:spPr>
          <a:xfrm>
            <a:off x="8001000" y="1828800"/>
            <a:ext cx="3642055" cy="365760"/>
          </a:xfrm>
          <a:prstGeom prst="rect">
            <a:avLst/>
          </a:prstGeom>
          <a:noFill/>
          <a:ln/>
        </p:spPr>
        <p:txBody>
          <a:bodyPr wrap="square" lIns="0" tIns="0" rIns="0" bIns="0" rtlCol="0" anchor="ctr"/>
          <a:lstStyle/>
          <a:p>
            <a:pPr indent="0" marL="0">
              <a:buNone/>
            </a:pPr>
            <a:r>
              <a:rPr lang="en-US" sz="1600" b="1" dirty="0">
                <a:solidFill>
                  <a:srgbClr val="15803D"/>
                </a:solidFill>
                <a:latin typeface="Courier New" pitchFamily="34" charset="0"/>
                <a:ea typeface="Courier New" pitchFamily="34" charset="-122"/>
                <a:cs typeface="Courier New" pitchFamily="34" charset="-120"/>
              </a:rPr>
              <a:t>app.py</a:t>
            </a:r>
            <a:endParaRPr lang="en-US" sz="1600" dirty="0"/>
          </a:p>
        </p:txBody>
      </p:sp>
      <p:sp>
        <p:nvSpPr>
          <p:cNvPr id="15" name="Text 12"/>
          <p:cNvSpPr txBox="1"/>
          <p:nvPr/>
        </p:nvSpPr>
        <p:spPr>
          <a:xfrm>
            <a:off x="8001000" y="2194560"/>
            <a:ext cx="3642055" cy="411480"/>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Streamlit page, controls, webcam loop</a:t>
            </a:r>
            <a:endParaRPr lang="en-US" sz="1500" dirty="0"/>
          </a:p>
        </p:txBody>
      </p:sp>
      <p:sp>
        <p:nvSpPr>
          <p:cNvPr id="16" name="Text 13"/>
          <p:cNvSpPr txBox="1"/>
          <p:nvPr/>
        </p:nvSpPr>
        <p:spPr>
          <a:xfrm>
            <a:off x="8001000" y="2697480"/>
            <a:ext cx="3642055" cy="365760"/>
          </a:xfrm>
          <a:prstGeom prst="rect">
            <a:avLst/>
          </a:prstGeom>
          <a:noFill/>
          <a:ln/>
        </p:spPr>
        <p:txBody>
          <a:bodyPr wrap="square" lIns="0" tIns="0" rIns="0" bIns="0" rtlCol="0" anchor="ctr"/>
          <a:lstStyle/>
          <a:p>
            <a:pPr indent="0" marL="0">
              <a:buNone/>
            </a:pPr>
            <a:r>
              <a:rPr lang="en-US" sz="1600" b="1" dirty="0">
                <a:solidFill>
                  <a:srgbClr val="15803D"/>
                </a:solidFill>
                <a:latin typeface="Courier New" pitchFamily="34" charset="0"/>
                <a:ea typeface="Courier New" pitchFamily="34" charset="-122"/>
                <a:cs typeface="Courier New" pitchFamily="34" charset="-120"/>
              </a:rPr>
              <a:t>src/detector.py</a:t>
            </a:r>
            <a:endParaRPr lang="en-US" sz="1600" dirty="0"/>
          </a:p>
        </p:txBody>
      </p:sp>
      <p:sp>
        <p:nvSpPr>
          <p:cNvPr id="17" name="Text 14"/>
          <p:cNvSpPr txBox="1"/>
          <p:nvPr/>
        </p:nvSpPr>
        <p:spPr>
          <a:xfrm>
            <a:off x="8001000" y="3063240"/>
            <a:ext cx="3642055" cy="411480"/>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loads YOLO11n, detect() → list of boxes</a:t>
            </a:r>
            <a:endParaRPr lang="en-US" sz="1500" dirty="0"/>
          </a:p>
        </p:txBody>
      </p:sp>
      <p:sp>
        <p:nvSpPr>
          <p:cNvPr id="18" name="Text 15"/>
          <p:cNvSpPr txBox="1"/>
          <p:nvPr/>
        </p:nvSpPr>
        <p:spPr>
          <a:xfrm>
            <a:off x="8001000" y="3566160"/>
            <a:ext cx="3642055" cy="365760"/>
          </a:xfrm>
          <a:prstGeom prst="rect">
            <a:avLst/>
          </a:prstGeom>
          <a:noFill/>
          <a:ln/>
        </p:spPr>
        <p:txBody>
          <a:bodyPr wrap="square" lIns="0" tIns="0" rIns="0" bIns="0" rtlCol="0" anchor="ctr"/>
          <a:lstStyle/>
          <a:p>
            <a:pPr indent="0" marL="0">
              <a:buNone/>
            </a:pPr>
            <a:r>
              <a:rPr lang="en-US" sz="1600" b="1" dirty="0">
                <a:solidFill>
                  <a:srgbClr val="15803D"/>
                </a:solidFill>
                <a:latin typeface="Courier New" pitchFamily="34" charset="0"/>
                <a:ea typeface="Courier New" pitchFamily="34" charset="-122"/>
                <a:cs typeface="Courier New" pitchFamily="34" charset="-120"/>
              </a:rPr>
              <a:t>src/utils.py</a:t>
            </a:r>
            <a:endParaRPr lang="en-US" sz="1600" dirty="0"/>
          </a:p>
        </p:txBody>
      </p:sp>
      <p:sp>
        <p:nvSpPr>
          <p:cNvPr id="19" name="Text 16"/>
          <p:cNvSpPr txBox="1"/>
          <p:nvPr/>
        </p:nvSpPr>
        <p:spPr>
          <a:xfrm>
            <a:off x="8001000" y="3931920"/>
            <a:ext cx="3642055" cy="411480"/>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draw boxes, format labels, FPS, count</a:t>
            </a:r>
            <a:endParaRPr lang="en-US" sz="1500" dirty="0"/>
          </a:p>
        </p:txBody>
      </p:sp>
      <p:sp>
        <p:nvSpPr>
          <p:cNvPr id="20" name="Text 17"/>
          <p:cNvSpPr txBox="1"/>
          <p:nvPr/>
        </p:nvSpPr>
        <p:spPr>
          <a:xfrm>
            <a:off x="8001000" y="4526280"/>
            <a:ext cx="3642055" cy="365760"/>
          </a:xfrm>
          <a:prstGeom prst="rect">
            <a:avLst/>
          </a:prstGeom>
          <a:noFill/>
          <a:ln/>
        </p:spPr>
        <p:txBody>
          <a:bodyPr wrap="square" lIns="0" tIns="0" rIns="0" bIns="0" rtlCol="0" anchor="ctr"/>
          <a:lstStyle/>
          <a:p>
            <a:pPr indent="0" marL="0">
              <a:buNone/>
            </a:pPr>
            <a:r>
              <a:rPr lang="en-US" sz="1500" i="1" dirty="0">
                <a:solidFill>
                  <a:srgbClr val="5B6675"/>
                </a:solidFill>
                <a:latin typeface="Calibri" pitchFamily="34" charset="0"/>
                <a:ea typeface="Calibri" pitchFamily="34" charset="-122"/>
                <a:cs typeface="Calibri" pitchFamily="34" charset="-120"/>
              </a:rPr>
              <a:t>About 310 lines of Python in total</a:t>
            </a:r>
            <a:endParaRPr lang="en-US" sz="1500" dirty="0"/>
          </a:p>
        </p:txBody>
      </p:sp>
      <p:sp>
        <p:nvSpPr>
          <p:cNvPr id="21" name="Text 18"/>
          <p:cNvSpPr txBox="1"/>
          <p:nvPr/>
        </p:nvSpPr>
        <p:spPr>
          <a:xfrm>
            <a:off x="8001000" y="4983480"/>
            <a:ext cx="3642055" cy="731520"/>
          </a:xfrm>
          <a:prstGeom prst="rect">
            <a:avLst/>
          </a:prstGeom>
          <a:noFill/>
          <a:ln/>
        </p:spPr>
        <p:txBody>
          <a:bodyPr wrap="square" lIns="0" tIns="0" rIns="0" bIns="0" rtlCol="0" anchor="t"/>
          <a:lstStyle/>
          <a:p>
            <a:pPr indent="0" marL="0">
              <a:buNone/>
            </a:pPr>
            <a:r>
              <a:rPr lang="en-US" sz="1500" dirty="0">
                <a:solidFill>
                  <a:srgbClr val="5B6675"/>
                </a:solidFill>
                <a:latin typeface="Calibri" pitchFamily="34" charset="0"/>
                <a:ea typeface="Calibri" pitchFamily="34" charset="-122"/>
                <a:cs typeface="Calibri" pitchFamily="34" charset="-120"/>
              </a:rPr>
              <a:t>Controls: input source, confidence slider, camera index, start/stop toggle</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1129284" cy="310896"/>
          </a:xfrm>
          <a:prstGeom prst="rect">
            <a:avLst/>
          </a:prstGeom>
          <a:solidFill>
            <a:srgbClr val="16A34A"/>
          </a:solidFill>
          <a:ln w="12700">
            <a:solidFill>
              <a:srgbClr val="16A34A"/>
            </a:solidFill>
            <a:prstDash val="solid"/>
          </a:ln>
        </p:spPr>
      </p:sp>
      <p:sp>
        <p:nvSpPr>
          <p:cNvPr id="3" name="Text 1"/>
          <p:cNvSpPr txBox="1"/>
          <p:nvPr/>
        </p:nvSpPr>
        <p:spPr>
          <a:xfrm>
            <a:off x="548640" y="411480"/>
            <a:ext cx="1129284" cy="310896"/>
          </a:xfrm>
          <a:prstGeom prst="rect">
            <a:avLst/>
          </a:prstGeom>
          <a:noFill/>
          <a:ln/>
        </p:spPr>
        <p:txBody>
          <a:bodyPr wrap="none" lIns="0" tIns="0" rIns="0" bIns="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RESULTS</a:t>
            </a:r>
            <a:endParaRPr lang="en-US" sz="1100" dirty="0"/>
          </a:p>
        </p:txBody>
      </p:sp>
      <p:sp>
        <p:nvSpPr>
          <p:cNvPr id="4" name="Text 2"/>
          <p:cNvSpPr txBox="1"/>
          <p:nvPr/>
        </p:nvSpPr>
        <p:spPr>
          <a:xfrm>
            <a:off x="548640" y="777240"/>
            <a:ext cx="11094415" cy="777240"/>
          </a:xfrm>
          <a:prstGeom prst="rect">
            <a:avLst/>
          </a:prstGeom>
          <a:noFill/>
          <a:ln/>
        </p:spPr>
        <p:txBody>
          <a:bodyPr wrap="square" lIns="0" tIns="0" rIns="0" bIns="0" rtlCol="0" anchor="ctr"/>
          <a:lstStyle/>
          <a:p>
            <a:pPr indent="0" marL="0">
              <a:buNone/>
            </a:pPr>
            <a:r>
              <a:rPr lang="en-US" sz="3400" b="1" dirty="0">
                <a:solidFill>
                  <a:srgbClr val="1F2933"/>
                </a:solidFill>
                <a:latin typeface="Arial" pitchFamily="34" charset="0"/>
                <a:ea typeface="Arial" pitchFamily="34" charset="-122"/>
                <a:cs typeface="Arial" pitchFamily="34" charset="-120"/>
              </a:rPr>
              <a:t>Results (measured on our laptop)</a:t>
            </a:r>
            <a:endParaRPr lang="en-US" sz="3400" dirty="0"/>
          </a:p>
        </p:txBody>
      </p:sp>
      <p:sp>
        <p:nvSpPr>
          <p:cNvPr id="5" name="Text 3"/>
          <p:cNvSpPr txBox="1"/>
          <p:nvPr/>
        </p:nvSpPr>
        <p:spPr>
          <a:xfrm>
            <a:off x="548640" y="1783080"/>
            <a:ext cx="3520440" cy="868680"/>
          </a:xfrm>
          <a:prstGeom prst="rect">
            <a:avLst/>
          </a:prstGeom>
          <a:noFill/>
          <a:ln/>
        </p:spPr>
        <p:txBody>
          <a:bodyPr wrap="square" lIns="0" tIns="0" rIns="0" bIns="0" rtlCol="0" anchor="ctr"/>
          <a:lstStyle/>
          <a:p>
            <a:pPr indent="0" marL="0">
              <a:buNone/>
            </a:pPr>
            <a:r>
              <a:rPr lang="en-US" sz="4800" b="1" dirty="0">
                <a:solidFill>
                  <a:srgbClr val="15803D"/>
                </a:solidFill>
                <a:latin typeface="Arial" pitchFamily="34" charset="0"/>
                <a:ea typeface="Arial" pitchFamily="34" charset="-122"/>
                <a:cs typeface="Arial" pitchFamily="34" charset="-120"/>
              </a:rPr>
              <a:t>22–24</a:t>
            </a:r>
            <a:endParaRPr lang="en-US" sz="4800" dirty="0"/>
          </a:p>
        </p:txBody>
      </p:sp>
      <p:sp>
        <p:nvSpPr>
          <p:cNvPr id="6" name="Text 4"/>
          <p:cNvSpPr txBox="1"/>
          <p:nvPr/>
        </p:nvSpPr>
        <p:spPr>
          <a:xfrm>
            <a:off x="548640" y="2651760"/>
            <a:ext cx="3520440" cy="365760"/>
          </a:xfrm>
          <a:prstGeom prst="rect">
            <a:avLst/>
          </a:prstGeom>
          <a:noFill/>
          <a:ln/>
        </p:spPr>
        <p:txBody>
          <a:bodyPr wrap="square" lIns="0" tIns="0" rIns="0" bIns="0" rtlCol="0" anchor="ctr"/>
          <a:lstStyle/>
          <a:p>
            <a:pPr indent="0" marL="0">
              <a:buNone/>
            </a:pPr>
            <a:r>
              <a:rPr lang="en-US" sz="1700" b="1" dirty="0">
                <a:solidFill>
                  <a:srgbClr val="1F2933"/>
                </a:solidFill>
                <a:latin typeface="Calibri" pitchFamily="34" charset="0"/>
                <a:ea typeface="Calibri" pitchFamily="34" charset="-122"/>
                <a:cs typeface="Calibri" pitchFamily="34" charset="-120"/>
              </a:rPr>
              <a:t>FPS in the live app</a:t>
            </a:r>
            <a:endParaRPr lang="en-US" sz="1700" dirty="0"/>
          </a:p>
        </p:txBody>
      </p:sp>
      <p:sp>
        <p:nvSpPr>
          <p:cNvPr id="7" name="Text 5"/>
          <p:cNvSpPr txBox="1"/>
          <p:nvPr/>
        </p:nvSpPr>
        <p:spPr>
          <a:xfrm>
            <a:off x="548640" y="2999232"/>
            <a:ext cx="3520440" cy="320040"/>
          </a:xfrm>
          <a:prstGeom prst="rect">
            <a:avLst/>
          </a:prstGeom>
          <a:noFill/>
          <a:ln/>
        </p:spPr>
        <p:txBody>
          <a:bodyPr wrap="square" lIns="0" tIns="0" rIns="0" bIns="0" rtlCol="0" anchor="ctr"/>
          <a:lstStyle/>
          <a:p>
            <a:pPr indent="0" marL="0">
              <a:buNone/>
            </a:pPr>
            <a:r>
              <a:rPr lang="en-US" sz="1400" dirty="0">
                <a:solidFill>
                  <a:srgbClr val="5B6675"/>
                </a:solidFill>
                <a:latin typeface="Calibri" pitchFamily="34" charset="0"/>
                <a:ea typeface="Calibri" pitchFamily="34" charset="-122"/>
                <a:cs typeface="Calibri" pitchFamily="34" charset="-120"/>
              </a:rPr>
              <a:t>one browser tab, CPU only</a:t>
            </a:r>
            <a:endParaRPr lang="en-US" sz="1400" dirty="0"/>
          </a:p>
        </p:txBody>
      </p:sp>
      <p:sp>
        <p:nvSpPr>
          <p:cNvPr id="8" name="Text 6"/>
          <p:cNvSpPr txBox="1"/>
          <p:nvPr/>
        </p:nvSpPr>
        <p:spPr>
          <a:xfrm>
            <a:off x="4343400" y="1783080"/>
            <a:ext cx="3520440" cy="868680"/>
          </a:xfrm>
          <a:prstGeom prst="rect">
            <a:avLst/>
          </a:prstGeom>
          <a:noFill/>
          <a:ln/>
        </p:spPr>
        <p:txBody>
          <a:bodyPr wrap="square" lIns="0" tIns="0" rIns="0" bIns="0" rtlCol="0" anchor="ctr"/>
          <a:lstStyle/>
          <a:p>
            <a:pPr indent="0" marL="0">
              <a:buNone/>
            </a:pPr>
            <a:r>
              <a:rPr lang="en-US" sz="4800" b="1" dirty="0">
                <a:solidFill>
                  <a:srgbClr val="15803D"/>
                </a:solidFill>
                <a:latin typeface="Arial" pitchFamily="34" charset="0"/>
                <a:ea typeface="Arial" pitchFamily="34" charset="-122"/>
                <a:cs typeface="Arial" pitchFamily="34" charset="-120"/>
              </a:rPr>
              <a:t>31 ms</a:t>
            </a:r>
            <a:endParaRPr lang="en-US" sz="4800" dirty="0"/>
          </a:p>
        </p:txBody>
      </p:sp>
      <p:sp>
        <p:nvSpPr>
          <p:cNvPr id="9" name="Text 7"/>
          <p:cNvSpPr txBox="1"/>
          <p:nvPr/>
        </p:nvSpPr>
        <p:spPr>
          <a:xfrm>
            <a:off x="4343400" y="2651760"/>
            <a:ext cx="3520440" cy="365760"/>
          </a:xfrm>
          <a:prstGeom prst="rect">
            <a:avLst/>
          </a:prstGeom>
          <a:noFill/>
          <a:ln/>
        </p:spPr>
        <p:txBody>
          <a:bodyPr wrap="square" lIns="0" tIns="0" rIns="0" bIns="0" rtlCol="0" anchor="ctr"/>
          <a:lstStyle/>
          <a:p>
            <a:pPr indent="0" marL="0">
              <a:buNone/>
            </a:pPr>
            <a:r>
              <a:rPr lang="en-US" sz="1700" b="1" dirty="0">
                <a:solidFill>
                  <a:srgbClr val="1F2933"/>
                </a:solidFill>
                <a:latin typeface="Calibri" pitchFamily="34" charset="0"/>
                <a:ea typeface="Calibri" pitchFamily="34" charset="-122"/>
                <a:cs typeface="Calibri" pitchFamily="34" charset="-120"/>
              </a:rPr>
              <a:t>YOLO11n per frame</a:t>
            </a:r>
            <a:endParaRPr lang="en-US" sz="1700" dirty="0"/>
          </a:p>
        </p:txBody>
      </p:sp>
      <p:sp>
        <p:nvSpPr>
          <p:cNvPr id="10" name="Text 8"/>
          <p:cNvSpPr txBox="1"/>
          <p:nvPr/>
        </p:nvSpPr>
        <p:spPr>
          <a:xfrm>
            <a:off x="4343400" y="2999232"/>
            <a:ext cx="3520440" cy="320040"/>
          </a:xfrm>
          <a:prstGeom prst="rect">
            <a:avLst/>
          </a:prstGeom>
          <a:noFill/>
          <a:ln/>
        </p:spPr>
        <p:txBody>
          <a:bodyPr wrap="square" lIns="0" tIns="0" rIns="0" bIns="0" rtlCol="0" anchor="ctr"/>
          <a:lstStyle/>
          <a:p>
            <a:pPr indent="0" marL="0">
              <a:buNone/>
            </a:pPr>
            <a:r>
              <a:rPr lang="en-US" sz="1400" dirty="0">
                <a:solidFill>
                  <a:srgbClr val="5B6675"/>
                </a:solidFill>
                <a:latin typeface="Calibri" pitchFamily="34" charset="0"/>
                <a:ea typeface="Calibri" pitchFamily="34" charset="-122"/>
                <a:cs typeface="Calibri" pitchFamily="34" charset="-120"/>
              </a:rPr>
              <a:t>640x480, mean of 50 runs</a:t>
            </a:r>
            <a:endParaRPr lang="en-US" sz="1400" dirty="0"/>
          </a:p>
        </p:txBody>
      </p:sp>
      <p:sp>
        <p:nvSpPr>
          <p:cNvPr id="11" name="Text 9"/>
          <p:cNvSpPr txBox="1"/>
          <p:nvPr/>
        </p:nvSpPr>
        <p:spPr>
          <a:xfrm>
            <a:off x="8138160" y="1783080"/>
            <a:ext cx="3520440" cy="868680"/>
          </a:xfrm>
          <a:prstGeom prst="rect">
            <a:avLst/>
          </a:prstGeom>
          <a:noFill/>
          <a:ln/>
        </p:spPr>
        <p:txBody>
          <a:bodyPr wrap="square" lIns="0" tIns="0" rIns="0" bIns="0" rtlCol="0" anchor="ctr"/>
          <a:lstStyle/>
          <a:p>
            <a:pPr indent="0" marL="0">
              <a:buNone/>
            </a:pPr>
            <a:r>
              <a:rPr lang="en-US" sz="4800" b="1" dirty="0">
                <a:solidFill>
                  <a:srgbClr val="15803D"/>
                </a:solidFill>
                <a:latin typeface="Arial" pitchFamily="34" charset="0"/>
                <a:ea typeface="Arial" pitchFamily="34" charset="-122"/>
                <a:cs typeface="Arial" pitchFamily="34" charset="-120"/>
              </a:rPr>
              <a:t>0.77–0.94</a:t>
            </a:r>
            <a:endParaRPr lang="en-US" sz="4800" dirty="0"/>
          </a:p>
        </p:txBody>
      </p:sp>
      <p:sp>
        <p:nvSpPr>
          <p:cNvPr id="12" name="Text 10"/>
          <p:cNvSpPr txBox="1"/>
          <p:nvPr/>
        </p:nvSpPr>
        <p:spPr>
          <a:xfrm>
            <a:off x="8138160" y="2651760"/>
            <a:ext cx="3520440" cy="365760"/>
          </a:xfrm>
          <a:prstGeom prst="rect">
            <a:avLst/>
          </a:prstGeom>
          <a:noFill/>
          <a:ln/>
        </p:spPr>
        <p:txBody>
          <a:bodyPr wrap="square" lIns="0" tIns="0" rIns="0" bIns="0" rtlCol="0" anchor="ctr"/>
          <a:lstStyle/>
          <a:p>
            <a:pPr indent="0" marL="0">
              <a:buNone/>
            </a:pPr>
            <a:r>
              <a:rPr lang="en-US" sz="1700" b="1" dirty="0">
                <a:solidFill>
                  <a:srgbClr val="1F2933"/>
                </a:solidFill>
                <a:latin typeface="Calibri" pitchFamily="34" charset="0"/>
                <a:ea typeface="Calibri" pitchFamily="34" charset="-122"/>
                <a:cs typeface="Calibri" pitchFamily="34" charset="-120"/>
              </a:rPr>
              <a:t>person confidence</a:t>
            </a:r>
            <a:endParaRPr lang="en-US" sz="1700" dirty="0"/>
          </a:p>
        </p:txBody>
      </p:sp>
      <p:sp>
        <p:nvSpPr>
          <p:cNvPr id="13" name="Text 11"/>
          <p:cNvSpPr txBox="1"/>
          <p:nvPr/>
        </p:nvSpPr>
        <p:spPr>
          <a:xfrm>
            <a:off x="8138160" y="2999232"/>
            <a:ext cx="3520440" cy="320040"/>
          </a:xfrm>
          <a:prstGeom prst="rect">
            <a:avLst/>
          </a:prstGeom>
          <a:noFill/>
          <a:ln/>
        </p:spPr>
        <p:txBody>
          <a:bodyPr wrap="square" lIns="0" tIns="0" rIns="0" bIns="0" rtlCol="0" anchor="ctr"/>
          <a:lstStyle/>
          <a:p>
            <a:pPr indent="0" marL="0">
              <a:buNone/>
            </a:pPr>
            <a:r>
              <a:rPr lang="en-US" sz="1400" dirty="0">
                <a:solidFill>
                  <a:srgbClr val="5B6675"/>
                </a:solidFill>
                <a:latin typeface="Calibri" pitchFamily="34" charset="0"/>
                <a:ea typeface="Calibri" pitchFamily="34" charset="-122"/>
                <a:cs typeface="Calibri" pitchFamily="34" charset="-120"/>
              </a:rPr>
              <a:t>52 saved live frames</a:t>
            </a:r>
            <a:endParaRPr lang="en-US" sz="1400" dirty="0"/>
          </a:p>
        </p:txBody>
      </p:sp>
      <p:pic>
        <p:nvPicPr>
          <p:cNvPr id="14" name="Image 0" descr="/Users/SmitT/Desktop/objectdetectionusingyolo/Real-Time-Object-Detection-YOLO/outputs/sample_results/threshold_comparison_zidane.jpg">    </p:cNvPr>
          <p:cNvPicPr>
            <a:picLocks noChangeAspect="1"/>
          </p:cNvPicPr>
          <p:nvPr/>
        </p:nvPicPr>
        <p:blipFill>
          <a:blip r:embed="rId1"/>
          <a:stretch>
            <a:fillRect/>
          </a:stretch>
        </p:blipFill>
        <p:spPr>
          <a:xfrm>
            <a:off x="731368" y="3611880"/>
            <a:ext cx="10728960" cy="2011680"/>
          </a:xfrm>
          <a:prstGeom prst="rect">
            <a:avLst/>
          </a:prstGeom>
        </p:spPr>
      </p:pic>
      <p:sp>
        <p:nvSpPr>
          <p:cNvPr id="15" name="Text 12"/>
          <p:cNvSpPr txBox="1"/>
          <p:nvPr/>
        </p:nvSpPr>
        <p:spPr>
          <a:xfrm>
            <a:off x="548640" y="5733288"/>
            <a:ext cx="11094415" cy="320040"/>
          </a:xfrm>
          <a:prstGeom prst="rect">
            <a:avLst/>
          </a:prstGeom>
          <a:noFill/>
          <a:ln/>
        </p:spPr>
        <p:txBody>
          <a:bodyPr wrap="square" lIns="0" tIns="0" rIns="0" bIns="0" rtlCol="0" anchor="ctr"/>
          <a:lstStyle/>
          <a:p>
            <a:pPr algn="ctr" indent="0" marL="0">
              <a:buNone/>
            </a:pPr>
            <a:r>
              <a:rPr lang="en-US" sz="1400" dirty="0">
                <a:solidFill>
                  <a:srgbClr val="5B6675"/>
                </a:solidFill>
                <a:latin typeface="Calibri" pitchFamily="34" charset="0"/>
                <a:ea typeface="Calibri" pitchFamily="34" charset="-122"/>
                <a:cs typeface="Calibri" pitchFamily="34" charset="-120"/>
              </a:rPr>
              <a:t>Confidence threshold 0.25 / 0.50 / 0.80  →  3 / 2 / 1 detections (tie 0.46 only appears at 0.25)</a:t>
            </a:r>
            <a:endParaRPr lang="en-US" sz="1400" dirty="0"/>
          </a:p>
        </p:txBody>
      </p:sp>
      <p:sp>
        <p:nvSpPr>
          <p:cNvPr id="16" name="Text 13"/>
          <p:cNvSpPr txBox="1"/>
          <p:nvPr/>
        </p:nvSpPr>
        <p:spPr>
          <a:xfrm>
            <a:off x="548640" y="6400800"/>
            <a:ext cx="11094415" cy="274320"/>
          </a:xfrm>
          <a:prstGeom prst="rect">
            <a:avLst/>
          </a:prstGeom>
          <a:noFill/>
          <a:ln/>
        </p:spPr>
        <p:txBody>
          <a:bodyPr wrap="square" lIns="0" tIns="0" rIns="0" bIns="0" rtlCol="0" anchor="ctr"/>
          <a:lstStyle/>
          <a:p>
            <a:pPr indent="0" marL="0">
              <a:buNone/>
            </a:pPr>
            <a:r>
              <a:rPr lang="en-US" sz="1100" i="1" dirty="0">
                <a:solidFill>
                  <a:srgbClr val="5B6675"/>
                </a:solidFill>
                <a:latin typeface="Calibri" pitchFamily="34" charset="0"/>
                <a:ea typeface="Calibri" pitchFamily="34" charset="-122"/>
                <a:cs typeface="Calibri" pitchFamily="34" charset="-120"/>
              </a:rPr>
              <a:t>MacBook Air, Apple M3, 8 GB RAM, no separate GPU. With two browser tabs running detection at the same time, FPS fell to about 10–14.</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1129284" cy="310896"/>
          </a:xfrm>
          <a:prstGeom prst="rect">
            <a:avLst/>
          </a:prstGeom>
          <a:solidFill>
            <a:srgbClr val="16A34A"/>
          </a:solidFill>
          <a:ln w="12700">
            <a:solidFill>
              <a:srgbClr val="16A34A"/>
            </a:solidFill>
            <a:prstDash val="solid"/>
          </a:ln>
        </p:spPr>
      </p:sp>
      <p:sp>
        <p:nvSpPr>
          <p:cNvPr id="3" name="Text 1"/>
          <p:cNvSpPr txBox="1"/>
          <p:nvPr/>
        </p:nvSpPr>
        <p:spPr>
          <a:xfrm>
            <a:off x="548640" y="411480"/>
            <a:ext cx="1129284" cy="310896"/>
          </a:xfrm>
          <a:prstGeom prst="rect">
            <a:avLst/>
          </a:prstGeom>
          <a:noFill/>
          <a:ln/>
        </p:spPr>
        <p:txBody>
          <a:bodyPr wrap="none" lIns="0" tIns="0" rIns="0" bIns="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TESTING</a:t>
            </a:r>
            <a:endParaRPr lang="en-US" sz="1100" dirty="0"/>
          </a:p>
        </p:txBody>
      </p:sp>
      <p:sp>
        <p:nvSpPr>
          <p:cNvPr id="4" name="Text 2"/>
          <p:cNvSpPr txBox="1"/>
          <p:nvPr/>
        </p:nvSpPr>
        <p:spPr>
          <a:xfrm>
            <a:off x="548640" y="777240"/>
            <a:ext cx="11094415" cy="777240"/>
          </a:xfrm>
          <a:prstGeom prst="rect">
            <a:avLst/>
          </a:prstGeom>
          <a:noFill/>
          <a:ln/>
        </p:spPr>
        <p:txBody>
          <a:bodyPr wrap="square" lIns="0" tIns="0" rIns="0" bIns="0" rtlCol="0" anchor="ctr"/>
          <a:lstStyle/>
          <a:p>
            <a:pPr indent="0" marL="0">
              <a:buNone/>
            </a:pPr>
            <a:r>
              <a:rPr lang="en-US" sz="3400" b="1" dirty="0">
                <a:solidFill>
                  <a:srgbClr val="1F2933"/>
                </a:solidFill>
                <a:latin typeface="Arial" pitchFamily="34" charset="0"/>
                <a:ea typeface="Arial" pitchFamily="34" charset="-122"/>
                <a:cs typeface="Arial" pitchFamily="34" charset="-120"/>
              </a:rPr>
              <a:t>Testing</a:t>
            </a:r>
            <a:endParaRPr lang="en-US" sz="3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914400"/>
        </p:xfrm>
        <a:graphic>
          <a:graphicData uri="http://schemas.openxmlformats.org/drawingml/2006/table">
            <a:tbl>
              <a:tblPr/>
              <a:tblGrid>
                <a:gridCol w="3108960"/>
                <a:gridCol w="2377440"/>
                <a:gridCol w="4206240"/>
                <a:gridCol w="1399032"/>
              </a:tblGrid>
              <a:tr h="393192">
                <a:tc>
                  <a:txBody>
                    <a:bodyPr/>
                    <a:lstStyle/>
                    <a:p>
                      <a:pPr indent="0" marL="0">
                        <a:buNone/>
                      </a:pPr>
                      <a:r>
                        <a:rPr lang="en-US" sz="1400" b="1" dirty="0">
                          <a:solidFill>
                            <a:srgbClr val="1F2933"/>
                          </a:solidFill>
                          <a:latin typeface="Calibri" pitchFamily="34" charset="0"/>
                          <a:ea typeface="Calibri" pitchFamily="34" charset="-122"/>
                          <a:cs typeface="Calibri" pitchFamily="34" charset="-120"/>
                        </a:rPr>
                        <a:t>Test</a:t>
                      </a:r>
                      <a:endParaRPr lang="en-US" sz="1400" dirty="0">
                        <a:latin typeface="Calibri" charset="0"/>
                        <a:ea typeface="Calibri" charset="0"/>
                        <a:cs typeface="Calibri" charset="0"/>
                      </a:endParaRPr>
                    </a:p>
                  </a:txBody>
                  <a:tcPr marL="101600" marR="101600" marT="38100" marB="3810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AF7EE"/>
                    </a:solidFill>
                  </a:tcPr>
                </a:tc>
                <a:tc>
                  <a:txBody>
                    <a:bodyPr/>
                    <a:lstStyle/>
                    <a:p>
                      <a:pPr indent="0" marL="0">
                        <a:buNone/>
                      </a:pPr>
                      <a:r>
                        <a:rPr lang="en-US" sz="1400" b="1" dirty="0">
                          <a:solidFill>
                            <a:srgbClr val="1F2933"/>
                          </a:solidFill>
                          <a:latin typeface="Calibri" pitchFamily="34" charset="0"/>
                          <a:ea typeface="Calibri" pitchFamily="34" charset="-122"/>
                          <a:cs typeface="Calibri" pitchFamily="34" charset="-120"/>
                        </a:rPr>
                        <a:t>How</a:t>
                      </a:r>
                      <a:endParaRPr lang="en-US" sz="1400" dirty="0">
                        <a:latin typeface="Calibri" charset="0"/>
                        <a:ea typeface="Calibri" charset="0"/>
                        <a:cs typeface="Calibri" charset="0"/>
                      </a:endParaRPr>
                    </a:p>
                  </a:txBody>
                  <a:tcPr marL="101600" marR="101600" marT="38100" marB="3810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AF7EE"/>
                    </a:solidFill>
                  </a:tcPr>
                </a:tc>
                <a:tc>
                  <a:txBody>
                    <a:bodyPr/>
                    <a:lstStyle/>
                    <a:p>
                      <a:pPr indent="0" marL="0">
                        <a:buNone/>
                      </a:pPr>
                      <a:r>
                        <a:rPr lang="en-US" sz="1400" b="1" dirty="0">
                          <a:solidFill>
                            <a:srgbClr val="1F2933"/>
                          </a:solidFill>
                          <a:latin typeface="Calibri" pitchFamily="34" charset="0"/>
                          <a:ea typeface="Calibri" pitchFamily="34" charset="-122"/>
                          <a:cs typeface="Calibri" pitchFamily="34" charset="-120"/>
                        </a:rPr>
                        <a:t>Result</a:t>
                      </a:r>
                      <a:endParaRPr lang="en-US" sz="1400" dirty="0">
                        <a:latin typeface="Calibri" charset="0"/>
                        <a:ea typeface="Calibri" charset="0"/>
                        <a:cs typeface="Calibri" charset="0"/>
                      </a:endParaRPr>
                    </a:p>
                  </a:txBody>
                  <a:tcPr marL="101600" marR="101600" marT="38100" marB="3810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AF7EE"/>
                    </a:solidFill>
                  </a:tcPr>
                </a:tc>
                <a:tc>
                  <a:txBody>
                    <a:bodyPr/>
                    <a:lstStyle/>
                    <a:p>
                      <a:pPr indent="0" marL="0">
                        <a:buNone/>
                      </a:pPr>
                      <a:r>
                        <a:rPr lang="en-US" sz="1400" b="1" dirty="0">
                          <a:solidFill>
                            <a:srgbClr val="15803D"/>
                          </a:solidFill>
                          <a:latin typeface="Calibri" pitchFamily="34" charset="0"/>
                          <a:ea typeface="Calibri" pitchFamily="34" charset="-122"/>
                          <a:cs typeface="Calibri" pitchFamily="34" charset="-120"/>
                        </a:rPr>
                        <a:t>Status</a:t>
                      </a:r>
                      <a:endParaRPr lang="en-US" sz="1400" dirty="0">
                        <a:latin typeface="Calibri" charset="0"/>
                        <a:ea typeface="Calibri" charset="0"/>
                        <a:cs typeface="Calibri" charset="0"/>
                      </a:endParaRPr>
                    </a:p>
                  </a:txBody>
                  <a:tcPr marL="101600" marR="101600" marT="38100" marB="3810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EAF7EE"/>
                    </a:solidFill>
                  </a:tcPr>
                </a:tc>
              </a:tr>
              <a:tr h="393192">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Webcam opens</a:t>
                      </a:r>
                      <a:endParaRPr lang="en-US" sz="1400" dirty="0">
                        <a:latin typeface="Calibri" charset="0"/>
                        <a:ea typeface="Calibri" charset="0"/>
                        <a:cs typeface="Calibri" charset="0"/>
                      </a:endParaRPr>
                    </a:p>
                  </a:txBody>
                  <a:tcPr marL="101600" marR="101600" marT="38100" marB="3810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live</a:t>
                      </a:r>
                      <a:endParaRPr lang="en-US" sz="1400" dirty="0">
                        <a:latin typeface="Calibri" charset="0"/>
                        <a:ea typeface="Calibri" charset="0"/>
                        <a:cs typeface="Calibri" charset="0"/>
                      </a:endParaRPr>
                    </a:p>
                  </a:txBody>
                  <a:tcPr marL="101600" marR="101600" marT="38100" marB="3810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video shown at 22–24 FPS</a:t>
                      </a:r>
                      <a:endParaRPr lang="en-US" sz="1400" dirty="0">
                        <a:latin typeface="Calibri" charset="0"/>
                        <a:ea typeface="Calibri" charset="0"/>
                        <a:cs typeface="Calibri" charset="0"/>
                      </a:endParaRPr>
                    </a:p>
                  </a:txBody>
                  <a:tcPr marL="101600" marR="101600" marT="38100" marB="3810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b="1" dirty="0">
                          <a:solidFill>
                            <a:srgbClr val="15803D"/>
                          </a:solidFill>
                          <a:latin typeface="Calibri" pitchFamily="34" charset="0"/>
                          <a:ea typeface="Calibri" pitchFamily="34" charset="-122"/>
                          <a:cs typeface="Calibri" pitchFamily="34" charset="-120"/>
                        </a:rPr>
                        <a:t>Pass</a:t>
                      </a:r>
                      <a:endParaRPr lang="en-US" sz="1400" dirty="0">
                        <a:latin typeface="Calibri" charset="0"/>
                        <a:ea typeface="Calibri" charset="0"/>
                        <a:cs typeface="Calibri" charset="0"/>
                      </a:endParaRPr>
                    </a:p>
                  </a:txBody>
                  <a:tcPr marL="101600" marR="101600" marT="38100" marB="3810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93192">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One object</a:t>
                      </a:r>
                      <a:endParaRPr lang="en-US" sz="1400" dirty="0">
                        <a:latin typeface="Calibri" charset="0"/>
                        <a:ea typeface="Calibri" charset="0"/>
                        <a:cs typeface="Calibri" charset="0"/>
                      </a:endParaRPr>
                    </a:p>
                  </a:txBody>
                  <a:tcPr marL="101600" marR="101600" marT="38100" marB="3810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4F6F8"/>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live</a:t>
                      </a:r>
                      <a:endParaRPr lang="en-US" sz="1400" dirty="0">
                        <a:latin typeface="Calibri" charset="0"/>
                        <a:ea typeface="Calibri" charset="0"/>
                        <a:cs typeface="Calibri" charset="0"/>
                      </a:endParaRPr>
                    </a:p>
                  </a:txBody>
                  <a:tcPr marL="101600" marR="101600" marT="38100" marB="3810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4F6F8"/>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person 0.88, count = 1</a:t>
                      </a:r>
                      <a:endParaRPr lang="en-US" sz="1400" dirty="0">
                        <a:latin typeface="Calibri" charset="0"/>
                        <a:ea typeface="Calibri" charset="0"/>
                        <a:cs typeface="Calibri" charset="0"/>
                      </a:endParaRPr>
                    </a:p>
                  </a:txBody>
                  <a:tcPr marL="101600" marR="101600" marT="38100" marB="3810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4F6F8"/>
                    </a:solidFill>
                  </a:tcPr>
                </a:tc>
                <a:tc>
                  <a:txBody>
                    <a:bodyPr/>
                    <a:lstStyle/>
                    <a:p>
                      <a:pPr indent="0" marL="0">
                        <a:buNone/>
                      </a:pPr>
                      <a:r>
                        <a:rPr lang="en-US" sz="1400" b="1" dirty="0">
                          <a:solidFill>
                            <a:srgbClr val="15803D"/>
                          </a:solidFill>
                          <a:latin typeface="Calibri" pitchFamily="34" charset="0"/>
                          <a:ea typeface="Calibri" pitchFamily="34" charset="-122"/>
                          <a:cs typeface="Calibri" pitchFamily="34" charset="-120"/>
                        </a:rPr>
                        <a:t>Pass</a:t>
                      </a:r>
                      <a:endParaRPr lang="en-US" sz="1400" dirty="0">
                        <a:latin typeface="Calibri" charset="0"/>
                        <a:ea typeface="Calibri" charset="0"/>
                        <a:cs typeface="Calibri" charset="0"/>
                      </a:endParaRPr>
                    </a:p>
                  </a:txBody>
                  <a:tcPr marL="101600" marR="101600" marT="38100" marB="3810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4F6F8"/>
                    </a:solidFill>
                  </a:tcPr>
                </a:tc>
              </a:tr>
              <a:tr h="393192">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Multiple objects / classes</a:t>
                      </a:r>
                      <a:endParaRPr lang="en-US" sz="1400" dirty="0">
                        <a:latin typeface="Calibri" charset="0"/>
                        <a:ea typeface="Calibri" charset="0"/>
                        <a:cs typeface="Calibri" charset="0"/>
                      </a:endParaRPr>
                    </a:p>
                  </a:txBody>
                  <a:tcPr marL="101600" marR="101600" marT="38100" marB="3810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image mode</a:t>
                      </a:r>
                      <a:endParaRPr lang="en-US" sz="1400" dirty="0">
                        <a:latin typeface="Calibri" charset="0"/>
                        <a:ea typeface="Calibri" charset="0"/>
                        <a:cs typeface="Calibri" charset="0"/>
                      </a:endParaRPr>
                    </a:p>
                  </a:txBody>
                  <a:tcPr marL="101600" marR="101600" marT="38100" marB="3810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bus + 4 persons; tie, clock</a:t>
                      </a:r>
                      <a:endParaRPr lang="en-US" sz="1400" dirty="0">
                        <a:latin typeface="Calibri" charset="0"/>
                        <a:ea typeface="Calibri" charset="0"/>
                        <a:cs typeface="Calibri" charset="0"/>
                      </a:endParaRPr>
                    </a:p>
                  </a:txBody>
                  <a:tcPr marL="101600" marR="101600" marT="38100" marB="3810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b="1" dirty="0">
                          <a:solidFill>
                            <a:srgbClr val="15803D"/>
                          </a:solidFill>
                          <a:latin typeface="Calibri" pitchFamily="34" charset="0"/>
                          <a:ea typeface="Calibri" pitchFamily="34" charset="-122"/>
                          <a:cs typeface="Calibri" pitchFamily="34" charset="-120"/>
                        </a:rPr>
                        <a:t>Pass</a:t>
                      </a:r>
                      <a:endParaRPr lang="en-US" sz="1400" dirty="0">
                        <a:latin typeface="Calibri" charset="0"/>
                        <a:ea typeface="Calibri" charset="0"/>
                        <a:cs typeface="Calibri" charset="0"/>
                      </a:endParaRPr>
                    </a:p>
                  </a:txBody>
                  <a:tcPr marL="101600" marR="101600" marT="38100" marB="3810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93192">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Different distances</a:t>
                      </a:r>
                      <a:endParaRPr lang="en-US" sz="1400" dirty="0">
                        <a:latin typeface="Calibri" charset="0"/>
                        <a:ea typeface="Calibri" charset="0"/>
                        <a:cs typeface="Calibri" charset="0"/>
                      </a:endParaRPr>
                    </a:p>
                  </a:txBody>
                  <a:tcPr marL="101600" marR="101600" marT="38100" marB="3810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4F6F8"/>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live + simulated</a:t>
                      </a:r>
                      <a:endParaRPr lang="en-US" sz="1400" dirty="0">
                        <a:latin typeface="Calibri" charset="0"/>
                        <a:ea typeface="Calibri" charset="0"/>
                        <a:cs typeface="Calibri" charset="0"/>
                      </a:endParaRPr>
                    </a:p>
                  </a:txBody>
                  <a:tcPr marL="101600" marR="101600" marT="38100" marB="3810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4F6F8"/>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nothing found at 1/8 scale</a:t>
                      </a:r>
                      <a:endParaRPr lang="en-US" sz="1400" dirty="0">
                        <a:latin typeface="Calibri" charset="0"/>
                        <a:ea typeface="Calibri" charset="0"/>
                        <a:cs typeface="Calibri" charset="0"/>
                      </a:endParaRPr>
                    </a:p>
                  </a:txBody>
                  <a:tcPr marL="101600" marR="101600" marT="38100" marB="3810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4F6F8"/>
                    </a:solidFill>
                  </a:tcPr>
                </a:tc>
                <a:tc>
                  <a:txBody>
                    <a:bodyPr/>
                    <a:lstStyle/>
                    <a:p>
                      <a:pPr indent="0" marL="0">
                        <a:buNone/>
                      </a:pPr>
                      <a:r>
                        <a:rPr lang="en-US" sz="1400" b="1" dirty="0">
                          <a:solidFill>
                            <a:srgbClr val="D97706"/>
                          </a:solidFill>
                          <a:latin typeface="Calibri" pitchFamily="34" charset="0"/>
                          <a:ea typeface="Calibri" pitchFamily="34" charset="-122"/>
                          <a:cs typeface="Calibri" pitchFamily="34" charset="-120"/>
                        </a:rPr>
                        <a:t>Pass*</a:t>
                      </a:r>
                      <a:endParaRPr lang="en-US" sz="1400" dirty="0">
                        <a:latin typeface="Calibri" charset="0"/>
                        <a:ea typeface="Calibri" charset="0"/>
                        <a:cs typeface="Calibri" charset="0"/>
                      </a:endParaRPr>
                    </a:p>
                  </a:txBody>
                  <a:tcPr marL="101600" marR="101600" marT="38100" marB="3810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4F6F8"/>
                    </a:solidFill>
                  </a:tcPr>
                </a:tc>
              </a:tr>
              <a:tr h="393192">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Different lighting</a:t>
                      </a:r>
                      <a:endParaRPr lang="en-US" sz="1400" dirty="0">
                        <a:latin typeface="Calibri" charset="0"/>
                        <a:ea typeface="Calibri" charset="0"/>
                        <a:cs typeface="Calibri" charset="0"/>
                      </a:endParaRPr>
                    </a:p>
                  </a:txBody>
                  <a:tcPr marL="101600" marR="101600" marT="38100" marB="3810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simulated</a:t>
                      </a:r>
                      <a:endParaRPr lang="en-US" sz="1400" dirty="0">
                        <a:latin typeface="Calibri" charset="0"/>
                        <a:ea typeface="Calibri" charset="0"/>
                        <a:cs typeface="Calibri" charset="0"/>
                      </a:endParaRPr>
                    </a:p>
                  </a:txBody>
                  <a:tcPr marL="101600" marR="101600" marT="38100" marB="3810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bus missed at 5% brightness</a:t>
                      </a:r>
                      <a:endParaRPr lang="en-US" sz="1400" dirty="0">
                        <a:latin typeface="Calibri" charset="0"/>
                        <a:ea typeface="Calibri" charset="0"/>
                        <a:cs typeface="Calibri" charset="0"/>
                      </a:endParaRPr>
                    </a:p>
                  </a:txBody>
                  <a:tcPr marL="101600" marR="101600" marT="38100" marB="3810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b="1" dirty="0">
                          <a:solidFill>
                            <a:srgbClr val="D97706"/>
                          </a:solidFill>
                          <a:latin typeface="Calibri" pitchFamily="34" charset="0"/>
                          <a:ea typeface="Calibri" pitchFamily="34" charset="-122"/>
                          <a:cs typeface="Calibri" pitchFamily="34" charset="-120"/>
                        </a:rPr>
                        <a:t>Pass*</a:t>
                      </a:r>
                      <a:endParaRPr lang="en-US" sz="1400" dirty="0">
                        <a:latin typeface="Calibri" charset="0"/>
                        <a:ea typeface="Calibri" charset="0"/>
                        <a:cs typeface="Calibri" charset="0"/>
                      </a:endParaRPr>
                    </a:p>
                  </a:txBody>
                  <a:tcPr marL="101600" marR="101600" marT="38100" marB="3810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93192">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Empty scene</a:t>
                      </a:r>
                      <a:endParaRPr lang="en-US" sz="1400" dirty="0">
                        <a:latin typeface="Calibri" charset="0"/>
                        <a:ea typeface="Calibri" charset="0"/>
                        <a:cs typeface="Calibri" charset="0"/>
                      </a:endParaRPr>
                    </a:p>
                  </a:txBody>
                  <a:tcPr marL="101600" marR="101600" marT="38100" marB="3810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4F6F8"/>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image mode</a:t>
                      </a:r>
                      <a:endParaRPr lang="en-US" sz="1400" dirty="0">
                        <a:latin typeface="Calibri" charset="0"/>
                        <a:ea typeface="Calibri" charset="0"/>
                        <a:cs typeface="Calibri" charset="0"/>
                      </a:endParaRPr>
                    </a:p>
                  </a:txBody>
                  <a:tcPr marL="101600" marR="101600" marT="38100" marB="3810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4F6F8"/>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0 objects, app keeps running</a:t>
                      </a:r>
                      <a:endParaRPr lang="en-US" sz="1400" dirty="0">
                        <a:latin typeface="Calibri" charset="0"/>
                        <a:ea typeface="Calibri" charset="0"/>
                        <a:cs typeface="Calibri" charset="0"/>
                      </a:endParaRPr>
                    </a:p>
                  </a:txBody>
                  <a:tcPr marL="101600" marR="101600" marT="38100" marB="3810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4F6F8"/>
                    </a:solidFill>
                  </a:tcPr>
                </a:tc>
                <a:tc>
                  <a:txBody>
                    <a:bodyPr/>
                    <a:lstStyle/>
                    <a:p>
                      <a:pPr indent="0" marL="0">
                        <a:buNone/>
                      </a:pPr>
                      <a:r>
                        <a:rPr lang="en-US" sz="1400" b="1" dirty="0">
                          <a:solidFill>
                            <a:srgbClr val="15803D"/>
                          </a:solidFill>
                          <a:latin typeface="Calibri" pitchFamily="34" charset="0"/>
                          <a:ea typeface="Calibri" pitchFamily="34" charset="-122"/>
                          <a:cs typeface="Calibri" pitchFamily="34" charset="-120"/>
                        </a:rPr>
                        <a:t>Pass</a:t>
                      </a:r>
                      <a:endParaRPr lang="en-US" sz="1400" dirty="0">
                        <a:latin typeface="Calibri" charset="0"/>
                        <a:ea typeface="Calibri" charset="0"/>
                        <a:cs typeface="Calibri" charset="0"/>
                      </a:endParaRPr>
                    </a:p>
                  </a:txBody>
                  <a:tcPr marL="101600" marR="101600" marT="38100" marB="3810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4F6F8"/>
                    </a:solidFill>
                  </a:tcPr>
                </a:tc>
              </a:tr>
              <a:tr h="393192">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Confidence threshold</a:t>
                      </a:r>
                      <a:endParaRPr lang="en-US" sz="1400" dirty="0">
                        <a:latin typeface="Calibri" charset="0"/>
                        <a:ea typeface="Calibri" charset="0"/>
                        <a:cs typeface="Calibri" charset="0"/>
                      </a:endParaRPr>
                    </a:p>
                  </a:txBody>
                  <a:tcPr marL="101600" marR="101600" marT="38100" marB="3810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image + live</a:t>
                      </a:r>
                      <a:endParaRPr lang="en-US" sz="1400" dirty="0">
                        <a:latin typeface="Calibri" charset="0"/>
                        <a:ea typeface="Calibri" charset="0"/>
                        <a:cs typeface="Calibri" charset="0"/>
                      </a:endParaRPr>
                    </a:p>
                  </a:txBody>
                  <a:tcPr marL="101600" marR="101600" marT="38100" marB="3810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3 → 2 → 1 detections</a:t>
                      </a:r>
                      <a:endParaRPr lang="en-US" sz="1400" dirty="0">
                        <a:latin typeface="Calibri" charset="0"/>
                        <a:ea typeface="Calibri" charset="0"/>
                        <a:cs typeface="Calibri" charset="0"/>
                      </a:endParaRPr>
                    </a:p>
                  </a:txBody>
                  <a:tcPr marL="101600" marR="101600" marT="38100" marB="3810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b="1" dirty="0">
                          <a:solidFill>
                            <a:srgbClr val="15803D"/>
                          </a:solidFill>
                          <a:latin typeface="Calibri" pitchFamily="34" charset="0"/>
                          <a:ea typeface="Calibri" pitchFamily="34" charset="-122"/>
                          <a:cs typeface="Calibri" pitchFamily="34" charset="-120"/>
                        </a:rPr>
                        <a:t>Pass</a:t>
                      </a:r>
                      <a:endParaRPr lang="en-US" sz="1400" dirty="0">
                        <a:latin typeface="Calibri" charset="0"/>
                        <a:ea typeface="Calibri" charset="0"/>
                        <a:cs typeface="Calibri" charset="0"/>
                      </a:endParaRPr>
                    </a:p>
                  </a:txBody>
                  <a:tcPr marL="101600" marR="101600" marT="38100" marB="3810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r h="393192">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Webcam unavailable</a:t>
                      </a:r>
                      <a:endParaRPr lang="en-US" sz="1400" dirty="0">
                        <a:latin typeface="Calibri" charset="0"/>
                        <a:ea typeface="Calibri" charset="0"/>
                        <a:cs typeface="Calibri" charset="0"/>
                      </a:endParaRPr>
                    </a:p>
                  </a:txBody>
                  <a:tcPr marL="101600" marR="101600" marT="38100" marB="3810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4F6F8"/>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no camera permission</a:t>
                      </a:r>
                      <a:endParaRPr lang="en-US" sz="1400" dirty="0">
                        <a:latin typeface="Calibri" charset="0"/>
                        <a:ea typeface="Calibri" charset="0"/>
                        <a:cs typeface="Calibri" charset="0"/>
                      </a:endParaRPr>
                    </a:p>
                  </a:txBody>
                  <a:tcPr marL="101600" marR="101600" marT="38100" marB="3810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4F6F8"/>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clear error message, no crash</a:t>
                      </a:r>
                      <a:endParaRPr lang="en-US" sz="1400" dirty="0">
                        <a:latin typeface="Calibri" charset="0"/>
                        <a:ea typeface="Calibri" charset="0"/>
                        <a:cs typeface="Calibri" charset="0"/>
                      </a:endParaRPr>
                    </a:p>
                  </a:txBody>
                  <a:tcPr marL="101600" marR="101600" marT="38100" marB="3810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4F6F8"/>
                    </a:solidFill>
                  </a:tcPr>
                </a:tc>
                <a:tc>
                  <a:txBody>
                    <a:bodyPr/>
                    <a:lstStyle/>
                    <a:p>
                      <a:pPr indent="0" marL="0">
                        <a:buNone/>
                      </a:pPr>
                      <a:r>
                        <a:rPr lang="en-US" sz="1400" b="1" dirty="0">
                          <a:solidFill>
                            <a:srgbClr val="15803D"/>
                          </a:solidFill>
                          <a:latin typeface="Calibri" pitchFamily="34" charset="0"/>
                          <a:ea typeface="Calibri" pitchFamily="34" charset="-122"/>
                          <a:cs typeface="Calibri" pitchFamily="34" charset="-120"/>
                        </a:rPr>
                        <a:t>Pass</a:t>
                      </a:r>
                      <a:endParaRPr lang="en-US" sz="1400" dirty="0">
                        <a:latin typeface="Calibri" charset="0"/>
                        <a:ea typeface="Calibri" charset="0"/>
                        <a:cs typeface="Calibri" charset="0"/>
                      </a:endParaRPr>
                    </a:p>
                  </a:txBody>
                  <a:tcPr marL="101600" marR="101600" marT="38100" marB="3810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4F6F8"/>
                    </a:solidFill>
                  </a:tcPr>
                </a:tc>
              </a:tr>
              <a:tr h="393192">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Stop detection</a:t>
                      </a:r>
                      <a:endParaRPr lang="en-US" sz="1400" dirty="0">
                        <a:latin typeface="Calibri" charset="0"/>
                        <a:ea typeface="Calibri" charset="0"/>
                        <a:cs typeface="Calibri" charset="0"/>
                      </a:endParaRPr>
                    </a:p>
                  </a:txBody>
                  <a:tcPr marL="101600" marR="101600" marT="38100" marB="3810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toggle off</a:t>
                      </a:r>
                      <a:endParaRPr lang="en-US" sz="1400" dirty="0">
                        <a:latin typeface="Calibri" charset="0"/>
                        <a:ea typeface="Calibri" charset="0"/>
                        <a:cs typeface="Calibri" charset="0"/>
                      </a:endParaRPr>
                    </a:p>
                  </a:txBody>
                  <a:tcPr marL="101600" marR="101600" marT="38100" marB="3810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dirty="0">
                          <a:solidFill>
                            <a:srgbClr val="1F2933"/>
                          </a:solidFill>
                          <a:latin typeface="Calibri" pitchFamily="34" charset="0"/>
                          <a:ea typeface="Calibri" pitchFamily="34" charset="-122"/>
                          <a:cs typeface="Calibri" pitchFamily="34" charset="-120"/>
                        </a:rPr>
                        <a:t>loop stops, camera released</a:t>
                      </a:r>
                      <a:endParaRPr lang="en-US" sz="1400" dirty="0">
                        <a:latin typeface="Calibri" charset="0"/>
                        <a:ea typeface="Calibri" charset="0"/>
                        <a:cs typeface="Calibri" charset="0"/>
                      </a:endParaRPr>
                    </a:p>
                  </a:txBody>
                  <a:tcPr marL="101600" marR="101600" marT="38100" marB="3810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c>
                  <a:txBody>
                    <a:bodyPr/>
                    <a:lstStyle/>
                    <a:p>
                      <a:pPr indent="0" marL="0">
                        <a:buNone/>
                      </a:pPr>
                      <a:r>
                        <a:rPr lang="en-US" sz="1400" b="1" dirty="0">
                          <a:solidFill>
                            <a:srgbClr val="15803D"/>
                          </a:solidFill>
                          <a:latin typeface="Calibri" pitchFamily="34" charset="0"/>
                          <a:ea typeface="Calibri" pitchFamily="34" charset="-122"/>
                          <a:cs typeface="Calibri" pitchFamily="34" charset="-120"/>
                        </a:rPr>
                        <a:t>Pass</a:t>
                      </a:r>
                      <a:endParaRPr lang="en-US" sz="1400" dirty="0">
                        <a:latin typeface="Calibri" charset="0"/>
                        <a:ea typeface="Calibri" charset="0"/>
                        <a:cs typeface="Calibri" charset="0"/>
                      </a:endParaRPr>
                    </a:p>
                  </a:txBody>
                  <a:tcPr marL="101600" marR="101600" marT="38100" marB="38100" anchor="ctr">
                    <a:lnL w="9525" cap="flat" cmpd="sng" algn="ctr">
                      <a:solidFill>
                        <a:srgbClr val="D5DCE3"/>
                      </a:solidFill>
                      <a:prstDash val="solid"/>
                      <a:round/>
                      <a:headEnd type="none" w="med" len="med"/>
                      <a:tailEnd type="none" w="med" len="med"/>
                    </a:lnL>
                    <a:lnR w="9525" cap="flat" cmpd="sng" algn="ctr">
                      <a:solidFill>
                        <a:srgbClr val="D5DCE3"/>
                      </a:solidFill>
                      <a:prstDash val="solid"/>
                      <a:round/>
                      <a:headEnd type="none" w="med" len="med"/>
                      <a:tailEnd type="none" w="med" len="med"/>
                    </a:lnR>
                    <a:lnT w="9525" cap="flat" cmpd="sng" algn="ctr">
                      <a:solidFill>
                        <a:srgbClr val="D5DCE3"/>
                      </a:solidFill>
                      <a:prstDash val="solid"/>
                      <a:round/>
                      <a:headEnd type="none" w="med" len="med"/>
                      <a:tailEnd type="none" w="med" len="med"/>
                    </a:lnT>
                    <a:lnB w="9525" cap="flat" cmpd="sng" algn="ctr">
                      <a:solidFill>
                        <a:srgbClr val="D5DCE3"/>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6400800"/>
            <a:ext cx="11094415" cy="274320"/>
          </a:xfrm>
          <a:prstGeom prst="rect">
            <a:avLst/>
          </a:prstGeom>
          <a:noFill/>
          <a:ln/>
        </p:spPr>
        <p:txBody>
          <a:bodyPr wrap="square" lIns="0" tIns="0" rIns="0" bIns="0" rtlCol="0" anchor="ctr"/>
          <a:lstStyle/>
          <a:p>
            <a:pPr indent="0" marL="0">
              <a:buNone/>
            </a:pPr>
            <a:r>
              <a:rPr lang="en-US" sz="1100" i="1" dirty="0">
                <a:solidFill>
                  <a:srgbClr val="5B6675"/>
                </a:solidFill>
                <a:latin typeface="Calibri" pitchFamily="34" charset="0"/>
                <a:ea typeface="Calibri" pitchFamily="34" charset="-122"/>
                <a:cs typeface="Calibri" pitchFamily="34" charset="-120"/>
              </a:rPr>
              <a:t>* limit found. Lighting and distance were simulated with OpenCV. Multi-object and multi-person cases used sample images.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1129284" cy="310896"/>
          </a:xfrm>
          <a:prstGeom prst="rect">
            <a:avLst/>
          </a:prstGeom>
          <a:solidFill>
            <a:srgbClr val="16A34A"/>
          </a:solidFill>
          <a:ln w="12700">
            <a:solidFill>
              <a:srgbClr val="16A34A"/>
            </a:solidFill>
            <a:prstDash val="solid"/>
          </a:ln>
        </p:spPr>
      </p:sp>
      <p:sp>
        <p:nvSpPr>
          <p:cNvPr id="3" name="Text 1"/>
          <p:cNvSpPr txBox="1"/>
          <p:nvPr/>
        </p:nvSpPr>
        <p:spPr>
          <a:xfrm>
            <a:off x="548640" y="411480"/>
            <a:ext cx="1129284" cy="310896"/>
          </a:xfrm>
          <a:prstGeom prst="rect">
            <a:avLst/>
          </a:prstGeom>
          <a:noFill/>
          <a:ln/>
        </p:spPr>
        <p:txBody>
          <a:bodyPr wrap="none" lIns="0" tIns="0" rIns="0" bIns="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OUTLOOK</a:t>
            </a:r>
            <a:endParaRPr lang="en-US" sz="1100" dirty="0"/>
          </a:p>
        </p:txBody>
      </p:sp>
      <p:sp>
        <p:nvSpPr>
          <p:cNvPr id="4" name="Text 2"/>
          <p:cNvSpPr txBox="1"/>
          <p:nvPr/>
        </p:nvSpPr>
        <p:spPr>
          <a:xfrm>
            <a:off x="548640" y="777240"/>
            <a:ext cx="11094415" cy="777240"/>
          </a:xfrm>
          <a:prstGeom prst="rect">
            <a:avLst/>
          </a:prstGeom>
          <a:noFill/>
          <a:ln/>
        </p:spPr>
        <p:txBody>
          <a:bodyPr wrap="square" lIns="0" tIns="0" rIns="0" bIns="0" rtlCol="0" anchor="ctr"/>
          <a:lstStyle/>
          <a:p>
            <a:pPr indent="0" marL="0">
              <a:buNone/>
            </a:pPr>
            <a:r>
              <a:rPr lang="en-US" sz="3400" b="1" dirty="0">
                <a:solidFill>
                  <a:srgbClr val="1F2933"/>
                </a:solidFill>
                <a:latin typeface="Arial" pitchFamily="34" charset="0"/>
                <a:ea typeface="Arial" pitchFamily="34" charset="-122"/>
                <a:cs typeface="Arial" pitchFamily="34" charset="-120"/>
              </a:rPr>
              <a:t>Limitations and Future Scope</a:t>
            </a:r>
            <a:endParaRPr lang="en-US" sz="3400" dirty="0"/>
          </a:p>
        </p:txBody>
      </p:sp>
      <p:sp>
        <p:nvSpPr>
          <p:cNvPr id="5" name="Shape 3"/>
          <p:cNvSpPr/>
          <p:nvPr/>
        </p:nvSpPr>
        <p:spPr>
          <a:xfrm>
            <a:off x="548640" y="1783080"/>
            <a:ext cx="5394960" cy="4343400"/>
          </a:xfrm>
          <a:prstGeom prst="rect">
            <a:avLst/>
          </a:prstGeom>
          <a:solidFill>
            <a:srgbClr val="FDF3E4"/>
          </a:solidFill>
          <a:ln w="12700">
            <a:solidFill>
              <a:srgbClr val="FDF3E4"/>
            </a:solidFill>
            <a:prstDash val="solid"/>
          </a:ln>
        </p:spPr>
      </p:sp>
      <p:sp>
        <p:nvSpPr>
          <p:cNvPr id="6" name="Shape 4"/>
          <p:cNvSpPr/>
          <p:nvPr/>
        </p:nvSpPr>
        <p:spPr>
          <a:xfrm>
            <a:off x="822960" y="2057400"/>
            <a:ext cx="640080" cy="640080"/>
          </a:xfrm>
          <a:prstGeom prst="ellipse">
            <a:avLst/>
          </a:prstGeom>
          <a:solidFill>
            <a:srgbClr val="FFFFFF"/>
          </a:solidFill>
          <a:ln w="12700">
            <a:solidFill>
              <a:srgbClr val="FFFFFF"/>
            </a:solidFill>
            <a:prstDash val="solid"/>
          </a:ln>
        </p:spPr>
      </p:sp>
      <p:pic>
        <p:nvPicPr>
          <p:cNvPr id="7" name="Image 0" descr="preencoded.png">    </p:cNvPr>
          <p:cNvPicPr>
            <a:picLocks noChangeAspect="1"/>
          </p:cNvPicPr>
          <p:nvPr/>
        </p:nvPicPr>
        <p:blipFill>
          <a:blip r:embed="rId1"/>
          <a:stretch>
            <a:fillRect/>
          </a:stretch>
        </p:blipFill>
        <p:spPr>
          <a:xfrm>
            <a:off x="982980" y="2217420"/>
            <a:ext cx="320040" cy="320040"/>
          </a:xfrm>
          <a:prstGeom prst="rect">
            <a:avLst/>
          </a:prstGeom>
        </p:spPr>
      </p:pic>
      <p:sp>
        <p:nvSpPr>
          <p:cNvPr id="8" name="Text 5"/>
          <p:cNvSpPr txBox="1"/>
          <p:nvPr/>
        </p:nvSpPr>
        <p:spPr>
          <a:xfrm>
            <a:off x="1645920" y="2057400"/>
            <a:ext cx="4114800" cy="640080"/>
          </a:xfrm>
          <a:prstGeom prst="rect">
            <a:avLst/>
          </a:prstGeom>
          <a:noFill/>
          <a:ln/>
        </p:spPr>
        <p:txBody>
          <a:bodyPr wrap="square" lIns="0" tIns="0" rIns="0" bIns="0" rtlCol="0" anchor="ctr"/>
          <a:lstStyle/>
          <a:p>
            <a:pPr indent="0" marL="0">
              <a:buNone/>
            </a:pPr>
            <a:r>
              <a:rPr lang="en-US" sz="2200" b="1" dirty="0">
                <a:solidFill>
                  <a:srgbClr val="1F2933"/>
                </a:solidFill>
                <a:latin typeface="Arial" pitchFamily="34" charset="0"/>
                <a:ea typeface="Arial" pitchFamily="34" charset="-122"/>
                <a:cs typeface="Arial" pitchFamily="34" charset="-120"/>
              </a:rPr>
              <a:t>Limitations</a:t>
            </a:r>
            <a:endParaRPr lang="en-US" sz="2200" dirty="0"/>
          </a:p>
        </p:txBody>
      </p:sp>
      <p:sp>
        <p:nvSpPr>
          <p:cNvPr id="9" name="Text 6"/>
          <p:cNvSpPr txBox="1"/>
          <p:nvPr/>
        </p:nvSpPr>
        <p:spPr>
          <a:xfrm>
            <a:off x="868680" y="2926080"/>
            <a:ext cx="4754880" cy="301752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rgbClr val="1F2933"/>
                </a:solidFill>
                <a:latin typeface="Calibri" pitchFamily="34" charset="0"/>
                <a:ea typeface="Calibri" pitchFamily="34" charset="-122"/>
                <a:cs typeface="Calibri" pitchFamily="34" charset="-120"/>
              </a:rPr>
              <a:t>Speed depends on the laptop's CPU</a:t>
            </a:r>
            <a:endParaRPr lang="en-US" sz="1700" dirty="0"/>
          </a:p>
          <a:p>
            <a:pPr marL="342900" indent="-342900">
              <a:spcAft>
                <a:spcPts val="1000"/>
              </a:spcAft>
              <a:buSzPct val="100000"/>
              <a:buChar char="•"/>
            </a:pPr>
            <a:r>
              <a:rPr lang="en-US" sz="1700" dirty="0">
                <a:solidFill>
                  <a:srgbClr val="1F2933"/>
                </a:solidFill>
                <a:latin typeface="Calibri" pitchFamily="34" charset="0"/>
                <a:ea typeface="Calibri" pitchFamily="34" charset="-122"/>
                <a:cs typeface="Calibri" pitchFamily="34" charset="-120"/>
              </a:rPr>
              <a:t>Low light and small or far objects reduce accuracy</a:t>
            </a:r>
            <a:endParaRPr lang="en-US" sz="1700" dirty="0"/>
          </a:p>
          <a:p>
            <a:pPr marL="342900" indent="-342900">
              <a:spcAft>
                <a:spcPts val="1000"/>
              </a:spcAft>
              <a:buSzPct val="100000"/>
              <a:buChar char="•"/>
            </a:pPr>
            <a:r>
              <a:rPr lang="en-US" sz="1700" dirty="0">
                <a:solidFill>
                  <a:srgbClr val="1F2933"/>
                </a:solidFill>
                <a:latin typeface="Calibri" pitchFamily="34" charset="0"/>
                <a:ea typeface="Calibri" pitchFamily="34" charset="-122"/>
                <a:cs typeface="Calibri" pitchFamily="34" charset="-120"/>
              </a:rPr>
              <a:t>Only the 80 COCO classes (a watch was once labelled “bottle”)</a:t>
            </a:r>
            <a:endParaRPr lang="en-US" sz="1700" dirty="0"/>
          </a:p>
          <a:p>
            <a:pPr marL="342900" indent="-342900">
              <a:spcAft>
                <a:spcPts val="1000"/>
              </a:spcAft>
              <a:buSzPct val="100000"/>
              <a:buChar char="•"/>
            </a:pPr>
            <a:r>
              <a:rPr lang="en-US" sz="1700" dirty="0">
                <a:solidFill>
                  <a:srgbClr val="1F2933"/>
                </a:solidFill>
                <a:latin typeface="Calibri" pitchFamily="34" charset="0"/>
                <a:ea typeface="Calibri" pitchFamily="34" charset="-122"/>
                <a:cs typeface="Calibri" pitchFamily="34" charset="-120"/>
              </a:rPr>
              <a:t>Per-frame count only, no tracking</a:t>
            </a:r>
            <a:endParaRPr lang="en-US" sz="1700" dirty="0"/>
          </a:p>
          <a:p>
            <a:pPr marL="342900" indent="-342900">
              <a:spcAft>
                <a:spcPts val="1000"/>
              </a:spcAft>
              <a:buSzPct val="100000"/>
              <a:buChar char="•"/>
            </a:pPr>
            <a:r>
              <a:rPr lang="en-US" sz="1700" dirty="0">
                <a:solidFill>
                  <a:srgbClr val="1F2933"/>
                </a:solidFill>
                <a:latin typeface="Calibri" pitchFamily="34" charset="0"/>
                <a:ea typeface="Calibri" pitchFamily="34" charset="-122"/>
                <a:cs typeface="Calibri" pitchFamily="34" charset="-120"/>
              </a:rPr>
              <a:t>Webcam must be on the computer running the app</a:t>
            </a:r>
            <a:endParaRPr lang="en-US" sz="1700" dirty="0"/>
          </a:p>
        </p:txBody>
      </p:sp>
      <p:sp>
        <p:nvSpPr>
          <p:cNvPr id="10" name="Shape 7"/>
          <p:cNvSpPr/>
          <p:nvPr/>
        </p:nvSpPr>
        <p:spPr>
          <a:xfrm>
            <a:off x="6245352" y="1783080"/>
            <a:ext cx="5394960" cy="4343400"/>
          </a:xfrm>
          <a:prstGeom prst="rect">
            <a:avLst/>
          </a:prstGeom>
          <a:solidFill>
            <a:srgbClr val="EAF7EE"/>
          </a:solidFill>
          <a:ln w="12700">
            <a:solidFill>
              <a:srgbClr val="EAF7EE"/>
            </a:solidFill>
            <a:prstDash val="solid"/>
          </a:ln>
        </p:spPr>
      </p:sp>
      <p:sp>
        <p:nvSpPr>
          <p:cNvPr id="11" name="Shape 8"/>
          <p:cNvSpPr/>
          <p:nvPr/>
        </p:nvSpPr>
        <p:spPr>
          <a:xfrm>
            <a:off x="6519672" y="2057400"/>
            <a:ext cx="640080" cy="640080"/>
          </a:xfrm>
          <a:prstGeom prst="ellipse">
            <a:avLst/>
          </a:prstGeom>
          <a:solidFill>
            <a:srgbClr val="FFFFFF"/>
          </a:solidFill>
          <a:ln w="12700">
            <a:solidFill>
              <a:srgbClr val="FFFFFF"/>
            </a:solidFill>
            <a:prstDash val="solid"/>
          </a:ln>
        </p:spPr>
      </p:sp>
      <p:pic>
        <p:nvPicPr>
          <p:cNvPr id="12" name="Image 1" descr="preencoded.png">    </p:cNvPr>
          <p:cNvPicPr>
            <a:picLocks noChangeAspect="1"/>
          </p:cNvPicPr>
          <p:nvPr/>
        </p:nvPicPr>
        <p:blipFill>
          <a:blip r:embed="rId2"/>
          <a:stretch>
            <a:fillRect/>
          </a:stretch>
        </p:blipFill>
        <p:spPr>
          <a:xfrm>
            <a:off x="6679692" y="2217420"/>
            <a:ext cx="320040" cy="320040"/>
          </a:xfrm>
          <a:prstGeom prst="rect">
            <a:avLst/>
          </a:prstGeom>
        </p:spPr>
      </p:pic>
      <p:sp>
        <p:nvSpPr>
          <p:cNvPr id="13" name="Text 9"/>
          <p:cNvSpPr txBox="1"/>
          <p:nvPr/>
        </p:nvSpPr>
        <p:spPr>
          <a:xfrm>
            <a:off x="7342632" y="2057400"/>
            <a:ext cx="4114800" cy="640080"/>
          </a:xfrm>
          <a:prstGeom prst="rect">
            <a:avLst/>
          </a:prstGeom>
          <a:noFill/>
          <a:ln/>
        </p:spPr>
        <p:txBody>
          <a:bodyPr wrap="square" lIns="0" tIns="0" rIns="0" bIns="0" rtlCol="0" anchor="ctr"/>
          <a:lstStyle/>
          <a:p>
            <a:pPr indent="0" marL="0">
              <a:buNone/>
            </a:pPr>
            <a:r>
              <a:rPr lang="en-US" sz="2200" b="1" dirty="0">
                <a:solidFill>
                  <a:srgbClr val="1F2933"/>
                </a:solidFill>
                <a:latin typeface="Arial" pitchFamily="34" charset="0"/>
                <a:ea typeface="Arial" pitchFamily="34" charset="-122"/>
                <a:cs typeface="Arial" pitchFamily="34" charset="-120"/>
              </a:rPr>
              <a:t>Future Scope</a:t>
            </a:r>
            <a:endParaRPr lang="en-US" sz="2200" dirty="0"/>
          </a:p>
        </p:txBody>
      </p:sp>
      <p:sp>
        <p:nvSpPr>
          <p:cNvPr id="14" name="Text 10"/>
          <p:cNvSpPr txBox="1"/>
          <p:nvPr/>
        </p:nvSpPr>
        <p:spPr>
          <a:xfrm>
            <a:off x="6565392" y="2926080"/>
            <a:ext cx="4754880" cy="301752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rgbClr val="1F2933"/>
                </a:solidFill>
                <a:latin typeface="Calibri" pitchFamily="34" charset="0"/>
                <a:ea typeface="Calibri" pitchFamily="34" charset="-122"/>
                <a:cs typeface="Calibri" pitchFamily="34" charset="-120"/>
              </a:rPr>
              <a:t>Bigger models (YOLO11s/m) or a GPU</a:t>
            </a:r>
            <a:endParaRPr lang="en-US" sz="1700" dirty="0"/>
          </a:p>
          <a:p>
            <a:pPr marL="342900" indent="-342900">
              <a:spcAft>
                <a:spcPts val="1000"/>
              </a:spcAft>
              <a:buSzPct val="100000"/>
              <a:buChar char="•"/>
            </a:pPr>
            <a:r>
              <a:rPr lang="en-US" sz="1700" dirty="0">
                <a:solidFill>
                  <a:srgbClr val="1F2933"/>
                </a:solidFill>
                <a:latin typeface="Calibri" pitchFamily="34" charset="0"/>
                <a:ea typeface="Calibri" pitchFamily="34" charset="-122"/>
                <a:cs typeface="Calibri" pitchFamily="34" charset="-120"/>
              </a:rPr>
              <a:t>Custom training for new object types</a:t>
            </a:r>
            <a:endParaRPr lang="en-US" sz="1700" dirty="0"/>
          </a:p>
          <a:p>
            <a:pPr marL="342900" indent="-342900">
              <a:spcAft>
                <a:spcPts val="1000"/>
              </a:spcAft>
              <a:buSzPct val="100000"/>
              <a:buChar char="•"/>
            </a:pPr>
            <a:r>
              <a:rPr lang="en-US" sz="1700" dirty="0">
                <a:solidFill>
                  <a:srgbClr val="1F2933"/>
                </a:solidFill>
                <a:latin typeface="Calibri" pitchFamily="34" charset="0"/>
                <a:ea typeface="Calibri" pitchFamily="34" charset="-122"/>
                <a:cs typeface="Calibri" pitchFamily="34" charset="-120"/>
              </a:rPr>
              <a:t>Object tracking with IDs across frames</a:t>
            </a:r>
            <a:endParaRPr lang="en-US" sz="1700" dirty="0"/>
          </a:p>
          <a:p>
            <a:pPr marL="342900" indent="-342900">
              <a:spcAft>
                <a:spcPts val="1000"/>
              </a:spcAft>
              <a:buSzPct val="100000"/>
              <a:buChar char="•"/>
            </a:pPr>
            <a:r>
              <a:rPr lang="en-US" sz="1700" dirty="0">
                <a:solidFill>
                  <a:srgbClr val="1F2933"/>
                </a:solidFill>
                <a:latin typeface="Calibri" pitchFamily="34" charset="0"/>
                <a:ea typeface="Calibri" pitchFamily="34" charset="-122"/>
                <a:cs typeface="Calibri" pitchFamily="34" charset="-120"/>
              </a:rPr>
              <a:t>Mobile or edge devices (Raspberry Pi, Jetson)</a:t>
            </a:r>
            <a:endParaRPr lang="en-US" sz="1700" dirty="0"/>
          </a:p>
          <a:p>
            <a:pPr marL="342900" indent="-342900">
              <a:spcAft>
                <a:spcPts val="1000"/>
              </a:spcAft>
              <a:buSzPct val="100000"/>
              <a:buChar char="•"/>
            </a:pPr>
            <a:r>
              <a:rPr lang="en-US" sz="1700" dirty="0">
                <a:solidFill>
                  <a:srgbClr val="1F2933"/>
                </a:solidFill>
                <a:latin typeface="Calibri" pitchFamily="34" charset="0"/>
                <a:ea typeface="Calibri" pitchFamily="34" charset="-122"/>
                <a:cs typeface="Calibri" pitchFamily="34" charset="-120"/>
              </a:rPr>
              <a:t>ONNX export and other speed optimisations</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720"/>
        </a:solidFill>
      </p:bgPr>
    </p:bg>
    <p:spTree>
      <p:nvGrpSpPr>
        <p:cNvPr id="1" name=""/>
        <p:cNvGrpSpPr/>
        <p:nvPr/>
      </p:nvGrpSpPr>
      <p:grpSpPr>
        <a:xfrm>
          <a:off x="0" y="0"/>
          <a:ext cx="0" cy="0"/>
          <a:chOff x="0" y="0"/>
          <a:chExt cx="0" cy="0"/>
        </a:xfrm>
      </p:grpSpPr>
      <p:sp>
        <p:nvSpPr>
          <p:cNvPr id="2" name="Shape 0"/>
          <p:cNvSpPr/>
          <p:nvPr/>
        </p:nvSpPr>
        <p:spPr>
          <a:xfrm>
            <a:off x="640080" y="731520"/>
            <a:ext cx="1472184" cy="310896"/>
          </a:xfrm>
          <a:prstGeom prst="rect">
            <a:avLst/>
          </a:prstGeom>
          <a:solidFill>
            <a:srgbClr val="16A34A"/>
          </a:solidFill>
          <a:ln w="12700">
            <a:solidFill>
              <a:srgbClr val="16A34A"/>
            </a:solidFill>
            <a:prstDash val="solid"/>
          </a:ln>
        </p:spPr>
      </p:sp>
      <p:sp>
        <p:nvSpPr>
          <p:cNvPr id="3" name="Text 1"/>
          <p:cNvSpPr txBox="1"/>
          <p:nvPr/>
        </p:nvSpPr>
        <p:spPr>
          <a:xfrm>
            <a:off x="640080" y="731520"/>
            <a:ext cx="1472184" cy="310896"/>
          </a:xfrm>
          <a:prstGeom prst="rect">
            <a:avLst/>
          </a:prstGeom>
          <a:noFill/>
          <a:ln/>
        </p:spPr>
        <p:txBody>
          <a:bodyPr wrap="none" lIns="0" tIns="0" rIns="0" bIns="0" rtlCol="0" anchor="ctr"/>
          <a:lstStyle/>
          <a:p>
            <a:pPr algn="ctr" indent="0" marL="0">
              <a:buNone/>
            </a:pPr>
            <a:r>
              <a:rPr lang="en-US" sz="1100" b="1" spc="100" kern="0" dirty="0">
                <a:solidFill>
                  <a:srgbClr val="FFFFFF"/>
                </a:solidFill>
                <a:latin typeface="Arial" pitchFamily="34" charset="0"/>
                <a:ea typeface="Arial" pitchFamily="34" charset="-122"/>
                <a:cs typeface="Arial" pitchFamily="34" charset="-120"/>
              </a:rPr>
              <a:t>CONCLUSION</a:t>
            </a:r>
            <a:endParaRPr lang="en-US" sz="1100" dirty="0"/>
          </a:p>
        </p:txBody>
      </p:sp>
      <p:sp>
        <p:nvSpPr>
          <p:cNvPr id="4" name="Text 2"/>
          <p:cNvSpPr txBox="1"/>
          <p:nvPr/>
        </p:nvSpPr>
        <p:spPr>
          <a:xfrm>
            <a:off x="640080" y="1143000"/>
            <a:ext cx="7315200" cy="82296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Conclusion</a:t>
            </a:r>
            <a:endParaRPr lang="en-US" sz="3800" dirty="0"/>
          </a:p>
        </p:txBody>
      </p:sp>
      <p:sp>
        <p:nvSpPr>
          <p:cNvPr id="5" name="Shape 3"/>
          <p:cNvSpPr/>
          <p:nvPr/>
        </p:nvSpPr>
        <p:spPr>
          <a:xfrm>
            <a:off x="640080" y="2377440"/>
            <a:ext cx="201168" cy="201168"/>
          </a:xfrm>
          <a:prstGeom prst="rect">
            <a:avLst/>
          </a:prstGeom>
          <a:solidFill>
            <a:srgbClr val="16A34A"/>
          </a:solidFill>
          <a:ln w="12700">
            <a:solidFill>
              <a:srgbClr val="16A34A"/>
            </a:solidFill>
            <a:prstDash val="solid"/>
          </a:ln>
        </p:spPr>
      </p:sp>
      <p:sp>
        <p:nvSpPr>
          <p:cNvPr id="6" name="Text 4"/>
          <p:cNvSpPr txBox="1"/>
          <p:nvPr/>
        </p:nvSpPr>
        <p:spPr>
          <a:xfrm>
            <a:off x="1051560" y="2286000"/>
            <a:ext cx="10424160" cy="731520"/>
          </a:xfrm>
          <a:prstGeom prst="rect">
            <a:avLst/>
          </a:prstGeom>
          <a:noFill/>
          <a:ln/>
        </p:spPr>
        <p:txBody>
          <a:bodyPr wrap="square" lIns="0" tIns="0" rIns="0" bIns="0" rtlCol="0" anchor="t"/>
          <a:lstStyle/>
          <a:p>
            <a:pPr indent="0" marL="0">
              <a:buNone/>
            </a:pPr>
            <a:r>
              <a:rPr lang="en-US" sz="1900" b="1" dirty="0">
                <a:solidFill>
                  <a:srgbClr val="FFFFFF"/>
                </a:solidFill>
                <a:latin typeface="Calibri" pitchFamily="34" charset="0"/>
                <a:ea typeface="Calibri" pitchFamily="34" charset="-122"/>
                <a:cs typeface="Calibri" pitchFamily="34" charset="-120"/>
              </a:rPr>
              <a:t>Working real-time detector: </a:t>
            </a:r>
            <a:pPr indent="0" marL="0">
              <a:buNone/>
            </a:pPr>
            <a:r>
              <a:rPr lang="en-US" sz="1900" dirty="0">
                <a:solidFill>
                  <a:srgbClr val="C9D3DC"/>
                </a:solidFill>
                <a:latin typeface="Calibri" pitchFamily="34" charset="0"/>
                <a:ea typeface="Calibri" pitchFamily="34" charset="-122"/>
                <a:cs typeface="Calibri" pitchFamily="34" charset="-120"/>
              </a:rPr>
              <a:t>webcam → OpenCV → YOLO11n → Streamlit at about 22–24 FPS on a laptop CPU.</a:t>
            </a:r>
            <a:endParaRPr lang="en-US" sz="1900" dirty="0"/>
          </a:p>
        </p:txBody>
      </p:sp>
      <p:sp>
        <p:nvSpPr>
          <p:cNvPr id="7" name="Shape 5"/>
          <p:cNvSpPr/>
          <p:nvPr/>
        </p:nvSpPr>
        <p:spPr>
          <a:xfrm>
            <a:off x="640080" y="3246120"/>
            <a:ext cx="201168" cy="201168"/>
          </a:xfrm>
          <a:prstGeom prst="rect">
            <a:avLst/>
          </a:prstGeom>
          <a:solidFill>
            <a:srgbClr val="16A34A"/>
          </a:solidFill>
          <a:ln w="12700">
            <a:solidFill>
              <a:srgbClr val="16A34A"/>
            </a:solidFill>
            <a:prstDash val="solid"/>
          </a:ln>
        </p:spPr>
      </p:sp>
      <p:sp>
        <p:nvSpPr>
          <p:cNvPr id="8" name="Text 6"/>
          <p:cNvSpPr txBox="1"/>
          <p:nvPr/>
        </p:nvSpPr>
        <p:spPr>
          <a:xfrm>
            <a:off x="1051560" y="3154680"/>
            <a:ext cx="10424160" cy="731520"/>
          </a:xfrm>
          <a:prstGeom prst="rect">
            <a:avLst/>
          </a:prstGeom>
          <a:noFill/>
          <a:ln/>
        </p:spPr>
        <p:txBody>
          <a:bodyPr wrap="square" lIns="0" tIns="0" rIns="0" bIns="0" rtlCol="0" anchor="t"/>
          <a:lstStyle/>
          <a:p>
            <a:pPr indent="0" marL="0">
              <a:buNone/>
            </a:pPr>
            <a:r>
              <a:rPr lang="en-US" sz="1900" b="1" dirty="0">
                <a:solidFill>
                  <a:srgbClr val="FFFFFF"/>
                </a:solidFill>
                <a:latin typeface="Calibri" pitchFamily="34" charset="0"/>
                <a:ea typeface="Calibri" pitchFamily="34" charset="-122"/>
                <a:cs typeface="Calibri" pitchFamily="34" charset="-120"/>
              </a:rPr>
              <a:t>Honest scope: </a:t>
            </a:r>
            <a:pPr indent="0" marL="0">
              <a:buNone/>
            </a:pPr>
            <a:r>
              <a:rPr lang="en-US" sz="1900" dirty="0">
                <a:solidFill>
                  <a:srgbClr val="C9D3DC"/>
                </a:solidFill>
                <a:latin typeface="Calibri" pitchFamily="34" charset="0"/>
                <a:ea typeface="Calibri" pitchFamily="34" charset="-122"/>
                <a:cs typeface="Calibri" pitchFamily="34" charset="-120"/>
              </a:rPr>
              <a:t>the YOLO model is pretrained by Ultralytics. Our work is the integration, testing and documentation.</a:t>
            </a:r>
            <a:endParaRPr lang="en-US" sz="1900" dirty="0"/>
          </a:p>
        </p:txBody>
      </p:sp>
      <p:sp>
        <p:nvSpPr>
          <p:cNvPr id="9" name="Shape 7"/>
          <p:cNvSpPr/>
          <p:nvPr/>
        </p:nvSpPr>
        <p:spPr>
          <a:xfrm>
            <a:off x="640080" y="4114800"/>
            <a:ext cx="201168" cy="201168"/>
          </a:xfrm>
          <a:prstGeom prst="rect">
            <a:avLst/>
          </a:prstGeom>
          <a:solidFill>
            <a:srgbClr val="16A34A"/>
          </a:solidFill>
          <a:ln w="12700">
            <a:solidFill>
              <a:srgbClr val="16A34A"/>
            </a:solidFill>
            <a:prstDash val="solid"/>
          </a:ln>
        </p:spPr>
      </p:sp>
      <p:sp>
        <p:nvSpPr>
          <p:cNvPr id="10" name="Text 8"/>
          <p:cNvSpPr txBox="1"/>
          <p:nvPr/>
        </p:nvSpPr>
        <p:spPr>
          <a:xfrm>
            <a:off x="1051560" y="4023360"/>
            <a:ext cx="10424160" cy="731520"/>
          </a:xfrm>
          <a:prstGeom prst="rect">
            <a:avLst/>
          </a:prstGeom>
          <a:noFill/>
          <a:ln/>
        </p:spPr>
        <p:txBody>
          <a:bodyPr wrap="square" lIns="0" tIns="0" rIns="0" bIns="0" rtlCol="0" anchor="t"/>
          <a:lstStyle/>
          <a:p>
            <a:pPr indent="0" marL="0">
              <a:buNone/>
            </a:pPr>
            <a:r>
              <a:rPr lang="en-US" sz="1900" b="1" dirty="0">
                <a:solidFill>
                  <a:srgbClr val="FFFFFF"/>
                </a:solidFill>
                <a:latin typeface="Calibri" pitchFamily="34" charset="0"/>
                <a:ea typeface="Calibri" pitchFamily="34" charset="-122"/>
                <a:cs typeface="Calibri" pitchFamily="34" charset="-120"/>
              </a:rPr>
              <a:t>Easy to explain: </a:t>
            </a:r>
            <a:pPr indent="0" marL="0">
              <a:buNone/>
            </a:pPr>
            <a:r>
              <a:rPr lang="en-US" sz="1900" dirty="0">
                <a:solidFill>
                  <a:srgbClr val="C9D3DC"/>
                </a:solidFill>
                <a:latin typeface="Calibri" pitchFamily="34" charset="0"/>
                <a:ea typeface="Calibri" pitchFamily="34" charset="-122"/>
                <a:cs typeface="Calibri" pitchFamily="34" charset="-120"/>
              </a:rPr>
              <a:t>3 small Python files, about 310 lines, only 4 packages.</a:t>
            </a:r>
            <a:endParaRPr lang="en-US" sz="1900" dirty="0"/>
          </a:p>
        </p:txBody>
      </p:sp>
      <p:sp>
        <p:nvSpPr>
          <p:cNvPr id="11" name="Shape 9"/>
          <p:cNvSpPr/>
          <p:nvPr/>
        </p:nvSpPr>
        <p:spPr>
          <a:xfrm>
            <a:off x="640080" y="5074920"/>
            <a:ext cx="256032" cy="0"/>
          </a:xfrm>
          <a:prstGeom prst="line">
            <a:avLst/>
          </a:prstGeom>
          <a:noFill/>
          <a:ln w="38100">
            <a:solidFill>
              <a:srgbClr val="16A34A"/>
            </a:solidFill>
            <a:prstDash val="solid"/>
          </a:ln>
        </p:spPr>
      </p:sp>
      <p:sp>
        <p:nvSpPr>
          <p:cNvPr id="12" name="Shape 10"/>
          <p:cNvSpPr/>
          <p:nvPr/>
        </p:nvSpPr>
        <p:spPr>
          <a:xfrm>
            <a:off x="640080" y="5074920"/>
            <a:ext cx="0" cy="256032"/>
          </a:xfrm>
          <a:prstGeom prst="line">
            <a:avLst/>
          </a:prstGeom>
          <a:noFill/>
          <a:ln w="38100">
            <a:solidFill>
              <a:srgbClr val="16A34A"/>
            </a:solidFill>
            <a:prstDash val="solid"/>
          </a:ln>
        </p:spPr>
      </p:sp>
      <p:sp>
        <p:nvSpPr>
          <p:cNvPr id="13" name="Shape 11"/>
          <p:cNvSpPr/>
          <p:nvPr/>
        </p:nvSpPr>
        <p:spPr>
          <a:xfrm>
            <a:off x="4590288" y="5074920"/>
            <a:ext cx="256032" cy="0"/>
          </a:xfrm>
          <a:prstGeom prst="line">
            <a:avLst/>
          </a:prstGeom>
          <a:noFill/>
          <a:ln w="38100">
            <a:solidFill>
              <a:srgbClr val="16A34A"/>
            </a:solidFill>
            <a:prstDash val="solid"/>
          </a:ln>
        </p:spPr>
      </p:sp>
      <p:sp>
        <p:nvSpPr>
          <p:cNvPr id="14" name="Shape 12"/>
          <p:cNvSpPr/>
          <p:nvPr/>
        </p:nvSpPr>
        <p:spPr>
          <a:xfrm>
            <a:off x="4846320" y="5074920"/>
            <a:ext cx="0" cy="256032"/>
          </a:xfrm>
          <a:prstGeom prst="line">
            <a:avLst/>
          </a:prstGeom>
          <a:noFill/>
          <a:ln w="38100">
            <a:solidFill>
              <a:srgbClr val="16A34A"/>
            </a:solidFill>
            <a:prstDash val="solid"/>
          </a:ln>
        </p:spPr>
      </p:sp>
      <p:sp>
        <p:nvSpPr>
          <p:cNvPr id="15" name="Shape 13"/>
          <p:cNvSpPr/>
          <p:nvPr/>
        </p:nvSpPr>
        <p:spPr>
          <a:xfrm>
            <a:off x="640080" y="6126480"/>
            <a:ext cx="256032" cy="0"/>
          </a:xfrm>
          <a:prstGeom prst="line">
            <a:avLst/>
          </a:prstGeom>
          <a:noFill/>
          <a:ln w="38100">
            <a:solidFill>
              <a:srgbClr val="16A34A"/>
            </a:solidFill>
            <a:prstDash val="solid"/>
          </a:ln>
        </p:spPr>
      </p:sp>
      <p:sp>
        <p:nvSpPr>
          <p:cNvPr id="16" name="Shape 14"/>
          <p:cNvSpPr/>
          <p:nvPr/>
        </p:nvSpPr>
        <p:spPr>
          <a:xfrm>
            <a:off x="640080" y="5870448"/>
            <a:ext cx="0" cy="256032"/>
          </a:xfrm>
          <a:prstGeom prst="line">
            <a:avLst/>
          </a:prstGeom>
          <a:noFill/>
          <a:ln w="38100">
            <a:solidFill>
              <a:srgbClr val="16A34A"/>
            </a:solidFill>
            <a:prstDash val="solid"/>
          </a:ln>
        </p:spPr>
      </p:sp>
      <p:sp>
        <p:nvSpPr>
          <p:cNvPr id="17" name="Shape 15"/>
          <p:cNvSpPr/>
          <p:nvPr/>
        </p:nvSpPr>
        <p:spPr>
          <a:xfrm>
            <a:off x="4590288" y="6126480"/>
            <a:ext cx="256032" cy="0"/>
          </a:xfrm>
          <a:prstGeom prst="line">
            <a:avLst/>
          </a:prstGeom>
          <a:noFill/>
          <a:ln w="38100">
            <a:solidFill>
              <a:srgbClr val="16A34A"/>
            </a:solidFill>
            <a:prstDash val="solid"/>
          </a:ln>
        </p:spPr>
      </p:sp>
      <p:sp>
        <p:nvSpPr>
          <p:cNvPr id="18" name="Shape 16"/>
          <p:cNvSpPr/>
          <p:nvPr/>
        </p:nvSpPr>
        <p:spPr>
          <a:xfrm>
            <a:off x="4846320" y="5870448"/>
            <a:ext cx="0" cy="256032"/>
          </a:xfrm>
          <a:prstGeom prst="line">
            <a:avLst/>
          </a:prstGeom>
          <a:noFill/>
          <a:ln w="38100">
            <a:solidFill>
              <a:srgbClr val="16A34A"/>
            </a:solidFill>
            <a:prstDash val="solid"/>
          </a:ln>
        </p:spPr>
      </p:sp>
      <p:sp>
        <p:nvSpPr>
          <p:cNvPr id="19" name="Text 17"/>
          <p:cNvSpPr txBox="1"/>
          <p:nvPr/>
        </p:nvSpPr>
        <p:spPr>
          <a:xfrm>
            <a:off x="640080" y="5074920"/>
            <a:ext cx="4206240" cy="105156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Thank you. Questions?</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Object Detection using YOLO</dc:title>
  <dc:subject>PptxGenJS Presentation</dc:subject>
  <dc:creator>Yogesh Dixit, Sumitabh Ahirwar, Smit Thakkar, Vishal Prabhu</dc:creator>
  <cp:lastModifiedBy>Yogesh Dixit, Sumitabh Ahirwar, Smit Thakkar, Vishal Prabhu</cp:lastModifiedBy>
  <cp:revision>1</cp:revision>
  <dcterms:created xsi:type="dcterms:W3CDTF">2026-09-30T11:47:56Z</dcterms:created>
  <dcterms:modified xsi:type="dcterms:W3CDTF">2026-09-30T11:47:56Z</dcterms:modified>
</cp:coreProperties>
</file>